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github.com/cern-eos/xrootd/tree/XrdHttp2"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1 / 19</a:t>
            </a:r>
          </a:p>
        </p:txBody>
      </p:sp>
      <p:sp>
        <p:nvSpPr>
          <p:cNvPr id="7" name="TextBox 6"/>
          <p:cNvSpPr txBox="1"/>
          <p:nvPr/>
        </p:nvSpPr>
        <p:spPr>
          <a:xfrm>
            <a:off x="822960" y="2194560"/>
            <a:ext cx="10515600" cy="1280160"/>
          </a:xfrm>
          <a:prstGeom prst="rect">
            <a:avLst/>
          </a:prstGeom>
          <a:noFill/>
        </p:spPr>
        <p:txBody>
          <a:bodyPr wrap="square">
            <a:spAutoFit/>
          </a:bodyPr>
          <a:lstStyle/>
          <a:p>
            <a:pPr algn="l"/>
            <a:r>
              <a:rPr sz="3600" b="1" i="0">
                <a:solidFill>
                  <a:srgbClr val="F7F4EF"/>
                </a:solidFill>
                <a:latin typeface="Calibri"/>
              </a:rPr>
              <a:t>XrdHttp Extensions for XRootD</a:t>
            </a:r>
          </a:p>
        </p:txBody>
      </p:sp>
      <p:sp>
        <p:nvSpPr>
          <p:cNvPr id="8" name="Rectangle 7"/>
          <p:cNvSpPr/>
          <p:nvPr/>
        </p:nvSpPr>
        <p:spPr>
          <a:xfrm>
            <a:off x="822960" y="3520440"/>
            <a:ext cx="1463040" cy="3810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749039"/>
            <a:ext cx="10058400" cy="365760"/>
          </a:xfrm>
          <a:prstGeom prst="rect">
            <a:avLst/>
          </a:prstGeom>
          <a:noFill/>
        </p:spPr>
        <p:txBody>
          <a:bodyPr wrap="square">
            <a:spAutoFit/>
          </a:bodyPr>
          <a:lstStyle/>
          <a:p>
            <a:pPr algn="l"/>
            <a:r>
              <a:rPr sz="2000" b="0" i="0">
                <a:solidFill>
                  <a:srgbClr val="E8A0BF"/>
                </a:solidFill>
                <a:latin typeface="Calibri"/>
              </a:rPr>
              <a:t>Dr. Andreas-Joachim Peters - CERN IT-SD-PSS</a:t>
            </a:r>
          </a:p>
        </p:txBody>
      </p:sp>
      <p:sp>
        <p:nvSpPr>
          <p:cNvPr id="10" name="TextBox 9"/>
          <p:cNvSpPr txBox="1"/>
          <p:nvPr/>
        </p:nvSpPr>
        <p:spPr>
          <a:xfrm>
            <a:off x="822960" y="4160520"/>
            <a:ext cx="10058400" cy="320040"/>
          </a:xfrm>
          <a:prstGeom prst="rect">
            <a:avLst/>
          </a:prstGeom>
          <a:noFill/>
        </p:spPr>
        <p:txBody>
          <a:bodyPr wrap="square">
            <a:spAutoFit/>
          </a:bodyPr>
          <a:lstStyle/>
          <a:p>
            <a:pPr algn="l"/>
            <a:r>
              <a:rPr sz="1400" b="1" i="0">
                <a:solidFill>
                  <a:srgbClr val="B8923A"/>
                </a:solidFill>
                <a:latin typeface="Calibri"/>
              </a:rPr>
              <a:t>XROOTD WORKSHOP LYON 2026</a:t>
            </a:r>
          </a:p>
        </p:txBody>
      </p:sp>
      <p:sp>
        <p:nvSpPr>
          <p:cNvPr id="11" name="TextBox 10"/>
          <p:cNvSpPr txBox="1"/>
          <p:nvPr/>
        </p:nvSpPr>
        <p:spPr>
          <a:xfrm>
            <a:off x="822960" y="4617720"/>
            <a:ext cx="10058400" cy="320040"/>
          </a:xfrm>
          <a:prstGeom prst="rect">
            <a:avLst/>
          </a:prstGeom>
          <a:noFill/>
        </p:spPr>
        <p:txBody>
          <a:bodyPr wrap="square">
            <a:spAutoFit/>
          </a:bodyPr>
          <a:lstStyle/>
          <a:p>
            <a:pPr algn="l"/>
            <a:r>
              <a:rPr sz="1600" b="0" i="0">
                <a:solidFill>
                  <a:srgbClr val="B8923A"/>
                </a:solidFill>
                <a:latin typeface="Calibri"/>
                <a:hlinkClick r:id="rId4"/>
              </a:rPr>
              <a:t>github.com/cern-eos/xrootd - branch XrdHttp2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2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XROOTD</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Extensions in XrdHTTP</a:t>
            </a:r>
          </a:p>
        </p:txBody>
      </p:sp>
      <p:sp>
        <p:nvSpPr>
          <p:cNvPr id="9" name="TextBox 8"/>
          <p:cNvSpPr txBox="1"/>
          <p:nvPr/>
        </p:nvSpPr>
        <p:spPr>
          <a:xfrm>
            <a:off x="502920" y="1783080"/>
            <a:ext cx="11155680" cy="960120"/>
          </a:xfrm>
          <a:prstGeom prst="rect">
            <a:avLst/>
          </a:prstGeom>
          <a:noFill/>
        </p:spPr>
        <p:txBody>
          <a:bodyPr wrap="square">
            <a:spAutoFit/>
          </a:bodyPr>
          <a:lstStyle/>
          <a:p>
            <a:pPr algn="l"/>
            <a:r>
              <a:rPr sz="1600" b="0" i="0">
                <a:solidFill>
                  <a:srgbClr val="C9BFB6"/>
                </a:solidFill>
                <a:latin typeface="Calibri"/>
              </a:rPr>
              <a:t>XrdHTTP is the HTTP plugin of XRootD. This work adds a proper header parser, HTTP/2, Kerberos for HTTP, and a POSIX client that can run in the Linux kernel. The long-term target is kernel, RDMA, and GPU access to the same files, over a small set of storage operations.</a:t>
            </a:r>
          </a:p>
        </p:txBody>
      </p:sp>
      <p:sp>
        <p:nvSpPr>
          <p:cNvPr id="10" name="Rounded Rectangle 9"/>
          <p:cNvSpPr/>
          <p:nvPr/>
        </p:nvSpPr>
        <p:spPr>
          <a:xfrm>
            <a:off x="502920" y="2880360"/>
            <a:ext cx="3566160" cy="310896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2971800"/>
            <a:ext cx="3346704" cy="201168"/>
          </a:xfrm>
          <a:prstGeom prst="rect">
            <a:avLst/>
          </a:prstGeom>
          <a:noFill/>
        </p:spPr>
        <p:txBody>
          <a:bodyPr wrap="square">
            <a:spAutoFit/>
          </a:bodyPr>
          <a:lstStyle/>
          <a:p>
            <a:pPr algn="l"/>
            <a:r>
              <a:rPr sz="1000" b="1" i="0">
                <a:solidFill>
                  <a:srgbClr val="B8923A"/>
                </a:solidFill>
                <a:latin typeface="Calibri"/>
              </a:rPr>
              <a:t>NOW</a:t>
            </a:r>
          </a:p>
        </p:txBody>
      </p:sp>
      <p:sp>
        <p:nvSpPr>
          <p:cNvPr id="12" name="TextBox 11"/>
          <p:cNvSpPr txBox="1"/>
          <p:nvPr/>
        </p:nvSpPr>
        <p:spPr>
          <a:xfrm>
            <a:off x="612648" y="3172968"/>
            <a:ext cx="3346704" cy="292608"/>
          </a:xfrm>
          <a:prstGeom prst="rect">
            <a:avLst/>
          </a:prstGeom>
          <a:noFill/>
        </p:spPr>
        <p:txBody>
          <a:bodyPr wrap="square">
            <a:spAutoFit/>
          </a:bodyPr>
          <a:lstStyle/>
          <a:p>
            <a:pPr algn="l"/>
            <a:r>
              <a:rPr sz="1500" b="1" i="0">
                <a:solidFill>
                  <a:srgbClr val="B8923A"/>
                </a:solidFill>
                <a:latin typeface="Calibri"/>
              </a:rPr>
              <a:t>Kernel</a:t>
            </a:r>
          </a:p>
        </p:txBody>
      </p:sp>
      <p:sp>
        <p:nvSpPr>
          <p:cNvPr id="13" name="TextBox 12"/>
          <p:cNvSpPr txBox="1"/>
          <p:nvPr/>
        </p:nvSpPr>
        <p:spPr>
          <a:xfrm>
            <a:off x="612648" y="3483864"/>
            <a:ext cx="3346704" cy="2414015"/>
          </a:xfrm>
          <a:prstGeom prst="rect">
            <a:avLst/>
          </a:prstGeom>
          <a:noFill/>
        </p:spPr>
        <p:txBody>
          <a:bodyPr wrap="square">
            <a:spAutoFit/>
          </a:bodyPr>
          <a:lstStyle/>
          <a:p>
            <a:pPr>
              <a:spcAft>
                <a:spcPts val="400"/>
              </a:spcAft>
            </a:pPr>
            <a:r>
              <a:rPr sz="1300" b="0" i="0">
                <a:solidFill>
                  <a:srgbClr val="F7F4EF"/>
                </a:solidFill>
                <a:latin typeface="Calibri"/>
              </a:rPr>
              <a:t>• Mount storage in Linux. Reads and writes go through the page cache. TLS stays in the kernel after handshake.</a:t>
            </a:r>
          </a:p>
        </p:txBody>
      </p:sp>
      <p:sp>
        <p:nvSpPr>
          <p:cNvPr id="14" name="Rounded Rectangle 13"/>
          <p:cNvSpPr/>
          <p:nvPr/>
        </p:nvSpPr>
        <p:spPr>
          <a:xfrm>
            <a:off x="4297680" y="2880360"/>
            <a:ext cx="3566160" cy="310896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7408" y="2971800"/>
            <a:ext cx="3346704" cy="201168"/>
          </a:xfrm>
          <a:prstGeom prst="rect">
            <a:avLst/>
          </a:prstGeom>
          <a:noFill/>
        </p:spPr>
        <p:txBody>
          <a:bodyPr wrap="square">
            <a:spAutoFit/>
          </a:bodyPr>
          <a:lstStyle/>
          <a:p>
            <a:pPr algn="l"/>
            <a:r>
              <a:rPr sz="1000" b="1" i="0">
                <a:solidFill>
                  <a:srgbClr val="E8A0BF"/>
                </a:solidFill>
                <a:latin typeface="Calibri"/>
              </a:rPr>
              <a:t>NEXT</a:t>
            </a:r>
          </a:p>
        </p:txBody>
      </p:sp>
      <p:sp>
        <p:nvSpPr>
          <p:cNvPr id="16" name="TextBox 15"/>
          <p:cNvSpPr txBox="1"/>
          <p:nvPr/>
        </p:nvSpPr>
        <p:spPr>
          <a:xfrm>
            <a:off x="4407408" y="3172968"/>
            <a:ext cx="3346704" cy="292608"/>
          </a:xfrm>
          <a:prstGeom prst="rect">
            <a:avLst/>
          </a:prstGeom>
          <a:noFill/>
        </p:spPr>
        <p:txBody>
          <a:bodyPr wrap="square">
            <a:spAutoFit/>
          </a:bodyPr>
          <a:lstStyle/>
          <a:p>
            <a:pPr algn="l"/>
            <a:r>
              <a:rPr sz="1500" b="1" i="0">
                <a:solidFill>
                  <a:srgbClr val="B8923A"/>
                </a:solidFill>
                <a:latin typeface="Calibri"/>
              </a:rPr>
              <a:t>RDMA</a:t>
            </a:r>
          </a:p>
        </p:txBody>
      </p:sp>
      <p:sp>
        <p:nvSpPr>
          <p:cNvPr id="17" name="TextBox 16"/>
          <p:cNvSpPr txBox="1"/>
          <p:nvPr/>
        </p:nvSpPr>
        <p:spPr>
          <a:xfrm>
            <a:off x="4407408" y="3483864"/>
            <a:ext cx="3346704" cy="2414015"/>
          </a:xfrm>
          <a:prstGeom prst="rect">
            <a:avLst/>
          </a:prstGeom>
          <a:noFill/>
        </p:spPr>
        <p:txBody>
          <a:bodyPr wrap="square">
            <a:spAutoFit/>
          </a:bodyPr>
          <a:lstStyle/>
          <a:p>
            <a:pPr>
              <a:spcAft>
                <a:spcPts val="400"/>
              </a:spcAft>
            </a:pPr>
            <a:r>
              <a:rPr sz="1300" b="0" i="0">
                <a:solidFill>
                  <a:srgbClr val="F7F4EF"/>
                </a:solidFill>
                <a:latin typeface="Calibri"/>
              </a:rPr>
              <a:t>• Same filesystem operations, but over RDMA instead of HTTP, for high throughput.</a:t>
            </a:r>
          </a:p>
        </p:txBody>
      </p:sp>
      <p:sp>
        <p:nvSpPr>
          <p:cNvPr id="18" name="Rounded Rectangle 17"/>
          <p:cNvSpPr/>
          <p:nvPr/>
        </p:nvSpPr>
        <p:spPr>
          <a:xfrm>
            <a:off x="8092440" y="2880360"/>
            <a:ext cx="3566160" cy="310896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02167" y="2971800"/>
            <a:ext cx="3346704" cy="201168"/>
          </a:xfrm>
          <a:prstGeom prst="rect">
            <a:avLst/>
          </a:prstGeom>
          <a:noFill/>
        </p:spPr>
        <p:txBody>
          <a:bodyPr wrap="square">
            <a:spAutoFit/>
          </a:bodyPr>
          <a:lstStyle/>
          <a:p>
            <a:pPr algn="l"/>
            <a:r>
              <a:rPr sz="1000" b="1" i="0">
                <a:solidFill>
                  <a:srgbClr val="E8A0BF"/>
                </a:solidFill>
                <a:latin typeface="Calibri"/>
              </a:rPr>
              <a:t>NEXT</a:t>
            </a:r>
          </a:p>
        </p:txBody>
      </p:sp>
      <p:sp>
        <p:nvSpPr>
          <p:cNvPr id="20" name="TextBox 19"/>
          <p:cNvSpPr txBox="1"/>
          <p:nvPr/>
        </p:nvSpPr>
        <p:spPr>
          <a:xfrm>
            <a:off x="8202167" y="3172968"/>
            <a:ext cx="3346704" cy="292608"/>
          </a:xfrm>
          <a:prstGeom prst="rect">
            <a:avLst/>
          </a:prstGeom>
          <a:noFill/>
        </p:spPr>
        <p:txBody>
          <a:bodyPr wrap="square">
            <a:spAutoFit/>
          </a:bodyPr>
          <a:lstStyle/>
          <a:p>
            <a:pPr algn="l"/>
            <a:r>
              <a:rPr sz="1500" b="1" i="0">
                <a:solidFill>
                  <a:srgbClr val="B8923A"/>
                </a:solidFill>
                <a:latin typeface="Calibri"/>
              </a:rPr>
              <a:t>GPU</a:t>
            </a:r>
          </a:p>
        </p:txBody>
      </p:sp>
      <p:sp>
        <p:nvSpPr>
          <p:cNvPr id="21" name="TextBox 20"/>
          <p:cNvSpPr txBox="1"/>
          <p:nvPr/>
        </p:nvSpPr>
        <p:spPr>
          <a:xfrm>
            <a:off x="8202167" y="3483864"/>
            <a:ext cx="3346704" cy="2414015"/>
          </a:xfrm>
          <a:prstGeom prst="rect">
            <a:avLst/>
          </a:prstGeom>
          <a:noFill/>
        </p:spPr>
        <p:txBody>
          <a:bodyPr wrap="square">
            <a:spAutoFit/>
          </a:bodyPr>
          <a:lstStyle/>
          <a:p>
            <a:pPr>
              <a:spcAft>
                <a:spcPts val="400"/>
              </a:spcAft>
            </a:pPr>
            <a:r>
              <a:rPr sz="1300" b="0" i="0">
                <a:solidFill>
                  <a:srgbClr val="F7F4EF"/>
                </a:solidFill>
                <a:latin typeface="Calibri"/>
              </a:rPr>
              <a:t>• Copy into GPU memory (DMA-BUF). HTTP cannot do that. It needs the RDMA path.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3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TALK</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Contents</a:t>
            </a:r>
          </a:p>
        </p:txBody>
      </p:sp>
      <p:sp>
        <p:nvSpPr>
          <p:cNvPr id="9" name="TextBox 8"/>
          <p:cNvSpPr txBox="1"/>
          <p:nvPr/>
        </p:nvSpPr>
        <p:spPr>
          <a:xfrm>
            <a:off x="640080" y="1874519"/>
            <a:ext cx="10058400" cy="4206240"/>
          </a:xfrm>
          <a:prstGeom prst="rect">
            <a:avLst/>
          </a:prstGeom>
          <a:noFill/>
        </p:spPr>
        <p:txBody>
          <a:bodyPr wrap="square">
            <a:spAutoFit/>
          </a:bodyPr>
          <a:lstStyle/>
          <a:p>
            <a:pPr>
              <a:spcAft>
                <a:spcPts val="600"/>
              </a:spcAft>
            </a:pPr>
            <a:r>
              <a:rPr sz="2000" b="0" i="0">
                <a:solidFill>
                  <a:srgbClr val="F7F4EF"/>
                </a:solidFill>
                <a:latin typeface="Calibri"/>
              </a:rPr>
              <a:t>•  1   Goals: kernel, RDMA, GPU</a:t>
            </a:r>
          </a:p>
          <a:p>
            <a:pPr>
              <a:spcAft>
                <a:spcPts val="600"/>
              </a:spcAft>
            </a:pPr>
            <a:r>
              <a:rPr sz="2000" b="0" i="0">
                <a:solidFill>
                  <a:srgbClr val="F7F4EF"/>
                </a:solidFill>
                <a:latin typeface="Calibri"/>
              </a:rPr>
              <a:t>•  2   What we had to add in XrdHTTP, and why</a:t>
            </a:r>
          </a:p>
          <a:p>
            <a:pPr>
              <a:spcAft>
                <a:spcPts val="600"/>
              </a:spcAft>
            </a:pPr>
            <a:r>
              <a:rPr sz="2000" b="0" i="0">
                <a:solidFill>
                  <a:srgbClr val="F7F4EF"/>
                </a:solidFill>
                <a:latin typeface="Calibri"/>
              </a:rPr>
              <a:t>•  3   Limits of the current XRootD server</a:t>
            </a:r>
          </a:p>
          <a:p>
            <a:pPr>
              <a:spcAft>
                <a:spcPts val="600"/>
              </a:spcAft>
            </a:pPr>
            <a:r>
              <a:rPr sz="2000" b="0" i="0">
                <a:solidFill>
                  <a:srgbClr val="F7F4EF"/>
                </a:solidFill>
                <a:latin typeface="Calibri"/>
              </a:rPr>
              <a:t>•  4   Parallelism: streams, Bridge, redirects</a:t>
            </a:r>
          </a:p>
          <a:p>
            <a:pPr>
              <a:spcAft>
                <a:spcPts val="600"/>
              </a:spcAft>
            </a:pPr>
            <a:r>
              <a:rPr sz="2000" b="0" i="0">
                <a:solidFill>
                  <a:srgbClr val="F7F4EF"/>
                </a:solidFill>
                <a:latin typeface="Calibri"/>
              </a:rPr>
              <a:t>•  5   The new pieces (parser, HTTP/2, Kerberos, mount)</a:t>
            </a:r>
          </a:p>
          <a:p>
            <a:pPr>
              <a:spcAft>
                <a:spcPts val="600"/>
              </a:spcAft>
            </a:pPr>
            <a:r>
              <a:rPr sz="2000" b="0" i="0">
                <a:solidFill>
                  <a:srgbClr val="F7F4EF"/>
                </a:solidFill>
                <a:latin typeface="Calibri"/>
              </a:rPr>
              <a:t>•  6   Test suite - all new tests pass</a:t>
            </a:r>
          </a:p>
          <a:p>
            <a:pPr>
              <a:spcAft>
                <a:spcPts val="600"/>
              </a:spcAft>
            </a:pPr>
            <a:r>
              <a:rPr sz="2000" b="0" i="0">
                <a:solidFill>
                  <a:srgbClr val="F7F4EF"/>
                </a:solidFill>
                <a:latin typeface="Calibri"/>
              </a:rPr>
              <a:t>•  7   Microbench: native parser still wins</a:t>
            </a:r>
          </a:p>
          <a:p>
            <a:pPr>
              <a:spcAft>
                <a:spcPts val="600"/>
              </a:spcAft>
            </a:pPr>
            <a:r>
              <a:rPr sz="2000" b="0" i="0">
                <a:solidFill>
                  <a:srgbClr val="F7F4EF"/>
                </a:solidFill>
                <a:latin typeface="Calibri"/>
              </a:rPr>
              <a:t>•  8   Status and what is still open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4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INTRODUCTION · GOALS</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Three access paths, one operation list</a:t>
            </a:r>
          </a:p>
        </p:txBody>
      </p:sp>
      <p:sp>
        <p:nvSpPr>
          <p:cNvPr id="9" name="TextBox 8"/>
          <p:cNvSpPr txBox="1"/>
          <p:nvPr/>
        </p:nvSpPr>
        <p:spPr>
          <a:xfrm>
            <a:off x="502920" y="1783080"/>
            <a:ext cx="11155680" cy="640080"/>
          </a:xfrm>
          <a:prstGeom prst="rect">
            <a:avLst/>
          </a:prstGeom>
          <a:noFill/>
        </p:spPr>
        <p:txBody>
          <a:bodyPr wrap="square">
            <a:spAutoFit/>
          </a:bodyPr>
          <a:lstStyle/>
          <a:p>
            <a:pPr algn="l"/>
            <a:r>
              <a:rPr sz="1600" b="0" i="0">
                <a:solidFill>
                  <a:srgbClr val="C9BFB6"/>
                </a:solidFill>
                <a:latin typeface="Calibri"/>
              </a:rPr>
              <a:t>The filesystem client defines operations (lookup, read, write, …) once. HTTP is the first transport. RDMA is meant to be the second.</a:t>
            </a:r>
          </a:p>
        </p:txBody>
      </p:sp>
      <p:sp>
        <p:nvSpPr>
          <p:cNvPr id="10" name="Rounded Rectangle 9"/>
          <p:cNvSpPr/>
          <p:nvPr/>
        </p:nvSpPr>
        <p:spPr>
          <a:xfrm>
            <a:off x="502920" y="2514600"/>
            <a:ext cx="3566160" cy="15544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2606040"/>
            <a:ext cx="3346704" cy="201168"/>
          </a:xfrm>
          <a:prstGeom prst="rect">
            <a:avLst/>
          </a:prstGeom>
          <a:noFill/>
        </p:spPr>
        <p:txBody>
          <a:bodyPr wrap="square">
            <a:spAutoFit/>
          </a:bodyPr>
          <a:lstStyle/>
          <a:p>
            <a:pPr algn="l"/>
            <a:r>
              <a:rPr sz="1000" b="1" i="0">
                <a:solidFill>
                  <a:srgbClr val="B8923A"/>
                </a:solidFill>
                <a:latin typeface="Calibri"/>
              </a:rPr>
              <a:t>NOW</a:t>
            </a:r>
          </a:p>
        </p:txBody>
      </p:sp>
      <p:sp>
        <p:nvSpPr>
          <p:cNvPr id="12" name="TextBox 11"/>
          <p:cNvSpPr txBox="1"/>
          <p:nvPr/>
        </p:nvSpPr>
        <p:spPr>
          <a:xfrm>
            <a:off x="612648" y="2807208"/>
            <a:ext cx="3346704" cy="292608"/>
          </a:xfrm>
          <a:prstGeom prst="rect">
            <a:avLst/>
          </a:prstGeom>
          <a:noFill/>
        </p:spPr>
        <p:txBody>
          <a:bodyPr wrap="square">
            <a:spAutoFit/>
          </a:bodyPr>
          <a:lstStyle/>
          <a:p>
            <a:pPr algn="l"/>
            <a:r>
              <a:rPr sz="1500" b="1" i="0">
                <a:solidFill>
                  <a:srgbClr val="B8923A"/>
                </a:solidFill>
                <a:latin typeface="Calibri"/>
              </a:rPr>
              <a:t>Kernel (CPU)</a:t>
            </a:r>
          </a:p>
        </p:txBody>
      </p:sp>
      <p:sp>
        <p:nvSpPr>
          <p:cNvPr id="13" name="TextBox 12"/>
          <p:cNvSpPr txBox="1"/>
          <p:nvPr/>
        </p:nvSpPr>
        <p:spPr>
          <a:xfrm>
            <a:off x="612648" y="3118104"/>
            <a:ext cx="3346704" cy="859535"/>
          </a:xfrm>
          <a:prstGeom prst="rect">
            <a:avLst/>
          </a:prstGeom>
          <a:noFill/>
        </p:spPr>
        <p:txBody>
          <a:bodyPr wrap="square">
            <a:spAutoFit/>
          </a:bodyPr>
          <a:lstStyle/>
          <a:p>
            <a:pPr>
              <a:spcAft>
                <a:spcPts val="400"/>
              </a:spcAft>
            </a:pPr>
            <a:r>
              <a:rPr sz="1300" b="0" i="0">
                <a:solidFill>
                  <a:srgbClr val="F7F4EF"/>
                </a:solidFill>
                <a:latin typeface="Calibri"/>
              </a:rPr>
              <a:t>• page cache · mmap · kTLS</a:t>
            </a:r>
          </a:p>
        </p:txBody>
      </p:sp>
      <p:sp>
        <p:nvSpPr>
          <p:cNvPr id="14" name="Rounded Rectangle 13"/>
          <p:cNvSpPr/>
          <p:nvPr/>
        </p:nvSpPr>
        <p:spPr>
          <a:xfrm>
            <a:off x="4297680" y="2514600"/>
            <a:ext cx="3566160" cy="15544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7408" y="2606040"/>
            <a:ext cx="3346704" cy="201168"/>
          </a:xfrm>
          <a:prstGeom prst="rect">
            <a:avLst/>
          </a:prstGeom>
          <a:noFill/>
        </p:spPr>
        <p:txBody>
          <a:bodyPr wrap="square">
            <a:spAutoFit/>
          </a:bodyPr>
          <a:lstStyle/>
          <a:p>
            <a:pPr algn="l"/>
            <a:r>
              <a:rPr sz="1000" b="1" i="0">
                <a:solidFill>
                  <a:srgbClr val="E8A0BF"/>
                </a:solidFill>
                <a:latin typeface="Calibri"/>
              </a:rPr>
              <a:t>NEXT</a:t>
            </a:r>
          </a:p>
        </p:txBody>
      </p:sp>
      <p:sp>
        <p:nvSpPr>
          <p:cNvPr id="16" name="TextBox 15"/>
          <p:cNvSpPr txBox="1"/>
          <p:nvPr/>
        </p:nvSpPr>
        <p:spPr>
          <a:xfrm>
            <a:off x="4407408" y="2807208"/>
            <a:ext cx="3346704" cy="292608"/>
          </a:xfrm>
          <a:prstGeom prst="rect">
            <a:avLst/>
          </a:prstGeom>
          <a:noFill/>
        </p:spPr>
        <p:txBody>
          <a:bodyPr wrap="square">
            <a:spAutoFit/>
          </a:bodyPr>
          <a:lstStyle/>
          <a:p>
            <a:pPr algn="l"/>
            <a:r>
              <a:rPr sz="1500" b="1" i="0">
                <a:solidFill>
                  <a:srgbClr val="B8923A"/>
                </a:solidFill>
                <a:latin typeface="Calibri"/>
              </a:rPr>
              <a:t>RDMA (planned)</a:t>
            </a:r>
          </a:p>
        </p:txBody>
      </p:sp>
      <p:sp>
        <p:nvSpPr>
          <p:cNvPr id="17" name="TextBox 16"/>
          <p:cNvSpPr txBox="1"/>
          <p:nvPr/>
        </p:nvSpPr>
        <p:spPr>
          <a:xfrm>
            <a:off x="4407408" y="3118104"/>
            <a:ext cx="3346704" cy="859535"/>
          </a:xfrm>
          <a:prstGeom prst="rect">
            <a:avLst/>
          </a:prstGeom>
          <a:noFill/>
        </p:spPr>
        <p:txBody>
          <a:bodyPr wrap="square">
            <a:spAutoFit/>
          </a:bodyPr>
          <a:lstStyle/>
          <a:p>
            <a:pPr>
              <a:spcAft>
                <a:spcPts val="400"/>
              </a:spcAft>
            </a:pPr>
            <a:r>
              <a:rPr sz="1300" b="0" i="0">
                <a:solidFill>
                  <a:srgbClr val="F7F4EF"/>
                </a:solidFill>
                <a:latin typeface="Calibri"/>
              </a:rPr>
              <a:t>• same ops, no HTTP</a:t>
            </a:r>
          </a:p>
        </p:txBody>
      </p:sp>
      <p:sp>
        <p:nvSpPr>
          <p:cNvPr id="18" name="Rounded Rectangle 17"/>
          <p:cNvSpPr/>
          <p:nvPr/>
        </p:nvSpPr>
        <p:spPr>
          <a:xfrm>
            <a:off x="8092440" y="2514600"/>
            <a:ext cx="3566160" cy="15544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02167" y="2606040"/>
            <a:ext cx="3346704" cy="201168"/>
          </a:xfrm>
          <a:prstGeom prst="rect">
            <a:avLst/>
          </a:prstGeom>
          <a:noFill/>
        </p:spPr>
        <p:txBody>
          <a:bodyPr wrap="square">
            <a:spAutoFit/>
          </a:bodyPr>
          <a:lstStyle/>
          <a:p>
            <a:pPr algn="l"/>
            <a:r>
              <a:rPr sz="1000" b="1" i="0">
                <a:solidFill>
                  <a:srgbClr val="E8A0BF"/>
                </a:solidFill>
                <a:latin typeface="Calibri"/>
              </a:rPr>
              <a:t>NEXT</a:t>
            </a:r>
          </a:p>
        </p:txBody>
      </p:sp>
      <p:sp>
        <p:nvSpPr>
          <p:cNvPr id="20" name="TextBox 19"/>
          <p:cNvSpPr txBox="1"/>
          <p:nvPr/>
        </p:nvSpPr>
        <p:spPr>
          <a:xfrm>
            <a:off x="8202167" y="2807208"/>
            <a:ext cx="3346704" cy="292608"/>
          </a:xfrm>
          <a:prstGeom prst="rect">
            <a:avLst/>
          </a:prstGeom>
          <a:noFill/>
        </p:spPr>
        <p:txBody>
          <a:bodyPr wrap="square">
            <a:spAutoFit/>
          </a:bodyPr>
          <a:lstStyle/>
          <a:p>
            <a:pPr algn="l"/>
            <a:r>
              <a:rPr sz="1500" b="1" i="0">
                <a:solidFill>
                  <a:srgbClr val="B8923A"/>
                </a:solidFill>
                <a:latin typeface="Calibri"/>
              </a:rPr>
              <a:t>GPU (planned)</a:t>
            </a:r>
          </a:p>
        </p:txBody>
      </p:sp>
      <p:sp>
        <p:nvSpPr>
          <p:cNvPr id="21" name="TextBox 20"/>
          <p:cNvSpPr txBox="1"/>
          <p:nvPr/>
        </p:nvSpPr>
        <p:spPr>
          <a:xfrm>
            <a:off x="8202167" y="3118104"/>
            <a:ext cx="3346704" cy="859535"/>
          </a:xfrm>
          <a:prstGeom prst="rect">
            <a:avLst/>
          </a:prstGeom>
          <a:noFill/>
        </p:spPr>
        <p:txBody>
          <a:bodyPr wrap="square">
            <a:spAutoFit/>
          </a:bodyPr>
          <a:lstStyle/>
          <a:p>
            <a:pPr>
              <a:spcAft>
                <a:spcPts val="400"/>
              </a:spcAft>
            </a:pPr>
            <a:r>
              <a:rPr sz="1300" b="0" i="0">
                <a:solidFill>
                  <a:srgbClr val="F7F4EF"/>
                </a:solidFill>
                <a:latin typeface="Calibri"/>
              </a:rPr>
              <a:t>• DMA-BUF · not via HTTP</a:t>
            </a:r>
          </a:p>
        </p:txBody>
      </p:sp>
      <p:sp>
        <p:nvSpPr>
          <p:cNvPr id="22" name="Rounded Rectangle 21"/>
          <p:cNvSpPr/>
          <p:nvPr/>
        </p:nvSpPr>
        <p:spPr>
          <a:xfrm>
            <a:off x="2011680" y="4206240"/>
            <a:ext cx="8138160" cy="105156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21408" y="4297679"/>
            <a:ext cx="7918704" cy="292608"/>
          </a:xfrm>
          <a:prstGeom prst="rect">
            <a:avLst/>
          </a:prstGeom>
          <a:noFill/>
        </p:spPr>
        <p:txBody>
          <a:bodyPr wrap="square">
            <a:spAutoFit/>
          </a:bodyPr>
          <a:lstStyle/>
          <a:p>
            <a:pPr algn="l"/>
            <a:r>
              <a:rPr sz="1500" b="1" i="0">
                <a:solidFill>
                  <a:srgbClr val="B8923A"/>
                </a:solidFill>
                <a:latin typeface="Calibri"/>
              </a:rPr>
              <a:t>xiofs operations</a:t>
            </a:r>
          </a:p>
        </p:txBody>
      </p:sp>
      <p:sp>
        <p:nvSpPr>
          <p:cNvPr id="24" name="TextBox 23"/>
          <p:cNvSpPr txBox="1"/>
          <p:nvPr/>
        </p:nvSpPr>
        <p:spPr>
          <a:xfrm>
            <a:off x="2121408" y="4608575"/>
            <a:ext cx="7918704" cy="557784"/>
          </a:xfrm>
          <a:prstGeom prst="rect">
            <a:avLst/>
          </a:prstGeom>
          <a:noFill/>
        </p:spPr>
        <p:txBody>
          <a:bodyPr wrap="square">
            <a:spAutoFit/>
          </a:bodyPr>
          <a:lstStyle/>
          <a:p>
            <a:pPr>
              <a:spcAft>
                <a:spcPts val="400"/>
              </a:spcAft>
            </a:pPr>
            <a:r>
              <a:rPr sz="1300" b="0" i="0">
                <a:solidFill>
                  <a:srgbClr val="F7F4EF"/>
                </a:solidFill>
                <a:latin typeface="Calibri"/>
              </a:rPr>
              <a:t>• lookup · getattr · read · write · mkdir · …</a:t>
            </a:r>
          </a:p>
        </p:txBody>
      </p:sp>
      <p:sp>
        <p:nvSpPr>
          <p:cNvPr id="25" name="TextBox 24"/>
          <p:cNvSpPr txBox="1"/>
          <p:nvPr/>
        </p:nvSpPr>
        <p:spPr>
          <a:xfrm>
            <a:off x="502920" y="5394960"/>
            <a:ext cx="11155680" cy="640080"/>
          </a:xfrm>
          <a:prstGeom prst="rect">
            <a:avLst/>
          </a:prstGeom>
          <a:noFill/>
        </p:spPr>
        <p:txBody>
          <a:bodyPr wrap="square">
            <a:spAutoFit/>
          </a:bodyPr>
          <a:lstStyle/>
          <a:p>
            <a:pPr algn="l"/>
            <a:r>
              <a:rPr sz="1300" b="0" i="0">
                <a:solidFill>
                  <a:srgbClr val="C9BFB6"/>
                </a:solidFill>
                <a:latin typeface="Calibri"/>
              </a:rPr>
              <a:t>See src/XrdXioFS/include/xiofs_ops.h. Memory targets: page cache, user buffer, DMA-BUF, GPU. GPU ioctls return -EOPNOTSUPP until RDMA exists.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5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INTRODUCTION · WHY XRDHTTP</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The kernel needs HTTP verbs that XrdHTTP did not have</a:t>
            </a:r>
          </a:p>
        </p:txBody>
      </p:sp>
      <p:sp>
        <p:nvSpPr>
          <p:cNvPr id="9" name="TextBox 8"/>
          <p:cNvSpPr txBox="1"/>
          <p:nvPr/>
        </p:nvSpPr>
        <p:spPr>
          <a:xfrm>
            <a:off x="502920" y="1783080"/>
            <a:ext cx="11155680" cy="777240"/>
          </a:xfrm>
          <a:prstGeom prst="rect">
            <a:avLst/>
          </a:prstGeom>
          <a:noFill/>
        </p:spPr>
        <p:txBody>
          <a:bodyPr wrap="square">
            <a:spAutoFit/>
          </a:bodyPr>
          <a:lstStyle/>
          <a:p>
            <a:pPr algn="l"/>
            <a:r>
              <a:rPr sz="1600" b="0" i="0">
                <a:solidFill>
                  <a:srgbClr val="C9BFB6"/>
                </a:solidFill>
                <a:latin typeface="Calibri"/>
              </a:rPr>
              <a:t>A kernel filesystem cannot speak the native xroot protocol. It can speak HTTP/1.1. So the server had to grow the missing methods, and a wire layer that HTTP/2 and HTTP/1.1 both use.</a:t>
            </a:r>
          </a:p>
        </p:txBody>
      </p:sp>
      <p:sp>
        <p:nvSpPr>
          <p:cNvPr id="10" name="Rounded Rectangle 9"/>
          <p:cNvSpPr/>
          <p:nvPr/>
        </p:nvSpPr>
        <p:spPr>
          <a:xfrm>
            <a:off x="502920" y="2697480"/>
            <a:ext cx="5486400" cy="33832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2788920"/>
            <a:ext cx="5266944" cy="201168"/>
          </a:xfrm>
          <a:prstGeom prst="rect">
            <a:avLst/>
          </a:prstGeom>
          <a:noFill/>
        </p:spPr>
        <p:txBody>
          <a:bodyPr wrap="square">
            <a:spAutoFit/>
          </a:bodyPr>
          <a:lstStyle/>
          <a:p>
            <a:pPr algn="l"/>
            <a:r>
              <a:rPr sz="1000" b="1" i="0">
                <a:solidFill>
                  <a:srgbClr val="E8A0BF"/>
                </a:solidFill>
                <a:latin typeface="Calibri"/>
              </a:rPr>
              <a:t>NEEDED</a:t>
            </a:r>
          </a:p>
        </p:txBody>
      </p:sp>
      <p:sp>
        <p:nvSpPr>
          <p:cNvPr id="12" name="TextBox 11"/>
          <p:cNvSpPr txBox="1"/>
          <p:nvPr/>
        </p:nvSpPr>
        <p:spPr>
          <a:xfrm>
            <a:off x="612648" y="2990088"/>
            <a:ext cx="5266944" cy="292608"/>
          </a:xfrm>
          <a:prstGeom prst="rect">
            <a:avLst/>
          </a:prstGeom>
          <a:noFill/>
        </p:spPr>
        <p:txBody>
          <a:bodyPr wrap="square">
            <a:spAutoFit/>
          </a:bodyPr>
          <a:lstStyle/>
          <a:p>
            <a:pPr algn="l"/>
            <a:r>
              <a:rPr sz="1500" b="1" i="0">
                <a:solidFill>
                  <a:srgbClr val="B8923A"/>
                </a:solidFill>
                <a:latin typeface="Calibri"/>
              </a:rPr>
              <a:t>What we needed</a:t>
            </a:r>
          </a:p>
        </p:txBody>
      </p:sp>
      <p:sp>
        <p:nvSpPr>
          <p:cNvPr id="13" name="TextBox 12"/>
          <p:cNvSpPr txBox="1"/>
          <p:nvPr/>
        </p:nvSpPr>
        <p:spPr>
          <a:xfrm>
            <a:off x="612648" y="3300984"/>
            <a:ext cx="5266944" cy="2688336"/>
          </a:xfrm>
          <a:prstGeom prst="rect">
            <a:avLst/>
          </a:prstGeom>
          <a:noFill/>
        </p:spPr>
        <p:txBody>
          <a:bodyPr wrap="square">
            <a:spAutoFit/>
          </a:bodyPr>
          <a:lstStyle/>
          <a:p>
            <a:pPr>
              <a:spcAft>
                <a:spcPts val="400"/>
              </a:spcAft>
            </a:pPr>
            <a:r>
              <a:rPr sz="1300" b="0" i="0">
                <a:solidFill>
                  <a:srgbClr val="F7F4EF"/>
                </a:solidFill>
                <a:latin typeface="Calibri"/>
              </a:rPr>
              <a:t>• Range GET for reads (page-cache fill)</a:t>
            </a:r>
          </a:p>
          <a:p>
            <a:pPr>
              <a:spcAft>
                <a:spcPts val="400"/>
              </a:spcAft>
            </a:pPr>
            <a:r>
              <a:rPr sz="1300" b="0" i="0">
                <a:solidFill>
                  <a:srgbClr val="F7F4EF"/>
                </a:solidFill>
                <a:latin typeface="Calibri"/>
              </a:rPr>
              <a:t>• PATCH with byte range for pwrite (not a full PUT)</a:t>
            </a:r>
          </a:p>
          <a:p>
            <a:pPr>
              <a:spcAft>
                <a:spcPts val="400"/>
              </a:spcAft>
            </a:pPr>
            <a:r>
              <a:rPr sz="1300" b="0" i="0">
                <a:solidFill>
                  <a:srgbClr val="F7F4EF"/>
                </a:solidFill>
                <a:latin typeface="Calibri"/>
              </a:rPr>
              <a:t>• PROPFIND for stat and directory listing</a:t>
            </a:r>
          </a:p>
          <a:p>
            <a:pPr>
              <a:spcAft>
                <a:spcPts val="400"/>
              </a:spcAft>
            </a:pPr>
            <a:r>
              <a:rPr sz="1300" b="0" i="0">
                <a:solidFill>
                  <a:srgbClr val="F7F4EF"/>
                </a:solidFill>
                <a:latin typeface="Calibri"/>
              </a:rPr>
              <a:t>• PROPPATCH / LINK for chmod and hard links</a:t>
            </a:r>
          </a:p>
          <a:p>
            <a:pPr>
              <a:spcAft>
                <a:spcPts val="400"/>
              </a:spcAft>
            </a:pPr>
            <a:r>
              <a:rPr sz="1300" b="0" i="0">
                <a:solidFill>
                  <a:srgbClr val="F7F4EF"/>
                </a:solidFill>
                <a:latin typeface="Calibri"/>
              </a:rPr>
              <a:t>• Many requests on one TLS connection (FUSE)</a:t>
            </a:r>
          </a:p>
          <a:p>
            <a:pPr>
              <a:spcAft>
                <a:spcPts val="400"/>
              </a:spcAft>
            </a:pPr>
            <a:r>
              <a:rPr sz="1300" b="0" i="0">
                <a:solidFill>
                  <a:srgbClr val="F7F4EF"/>
                </a:solidFill>
                <a:latin typeface="Calibri"/>
              </a:rPr>
              <a:t>• Kerberos for HTTP clients at KDC sites</a:t>
            </a:r>
          </a:p>
        </p:txBody>
      </p:sp>
      <p:sp>
        <p:nvSpPr>
          <p:cNvPr id="14" name="Rounded Rectangle 13"/>
          <p:cNvSpPr/>
          <p:nvPr/>
        </p:nvSpPr>
        <p:spPr>
          <a:xfrm>
            <a:off x="6217920" y="2697480"/>
            <a:ext cx="5486400" cy="33832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7648" y="2788920"/>
            <a:ext cx="5266944" cy="201168"/>
          </a:xfrm>
          <a:prstGeom prst="rect">
            <a:avLst/>
          </a:prstGeom>
          <a:noFill/>
        </p:spPr>
        <p:txBody>
          <a:bodyPr wrap="square">
            <a:spAutoFit/>
          </a:bodyPr>
          <a:lstStyle/>
          <a:p>
            <a:pPr algn="l"/>
            <a:r>
              <a:rPr sz="1000" b="1" i="0">
                <a:solidFill>
                  <a:srgbClr val="E8A0BF"/>
                </a:solidFill>
                <a:latin typeface="Calibri"/>
              </a:rPr>
              <a:t>NOT</a:t>
            </a:r>
          </a:p>
        </p:txBody>
      </p:sp>
      <p:sp>
        <p:nvSpPr>
          <p:cNvPr id="16" name="TextBox 15"/>
          <p:cNvSpPr txBox="1"/>
          <p:nvPr/>
        </p:nvSpPr>
        <p:spPr>
          <a:xfrm>
            <a:off x="6327648" y="2990088"/>
            <a:ext cx="5266944" cy="292608"/>
          </a:xfrm>
          <a:prstGeom prst="rect">
            <a:avLst/>
          </a:prstGeom>
          <a:noFill/>
        </p:spPr>
        <p:txBody>
          <a:bodyPr wrap="square">
            <a:spAutoFit/>
          </a:bodyPr>
          <a:lstStyle/>
          <a:p>
            <a:pPr algn="l"/>
            <a:r>
              <a:rPr sz="1500" b="1" i="0">
                <a:solidFill>
                  <a:srgbClr val="B8923A"/>
                </a:solidFill>
                <a:latin typeface="Calibri"/>
              </a:rPr>
              <a:t>What that is not</a:t>
            </a:r>
          </a:p>
        </p:txBody>
      </p:sp>
      <p:sp>
        <p:nvSpPr>
          <p:cNvPr id="17" name="TextBox 16"/>
          <p:cNvSpPr txBox="1"/>
          <p:nvPr/>
        </p:nvSpPr>
        <p:spPr>
          <a:xfrm>
            <a:off x="6327648" y="3300984"/>
            <a:ext cx="5266944" cy="2688336"/>
          </a:xfrm>
          <a:prstGeom prst="rect">
            <a:avLst/>
          </a:prstGeom>
          <a:noFill/>
        </p:spPr>
        <p:txBody>
          <a:bodyPr wrap="square">
            <a:spAutoFit/>
          </a:bodyPr>
          <a:lstStyle/>
          <a:p>
            <a:pPr>
              <a:spcAft>
                <a:spcPts val="400"/>
              </a:spcAft>
            </a:pPr>
            <a:r>
              <a:rPr sz="1300" b="0" i="0">
                <a:solidFill>
                  <a:srgbClr val="F7F4EF"/>
                </a:solidFill>
                <a:latin typeface="Calibri"/>
              </a:rPr>
              <a:t>• Not a new storage backend - still ofs</a:t>
            </a:r>
          </a:p>
          <a:p>
            <a:pPr>
              <a:spcAft>
                <a:spcPts val="400"/>
              </a:spcAft>
            </a:pPr>
            <a:r>
              <a:rPr sz="1300" b="0" i="0">
                <a:solidFill>
                  <a:srgbClr val="F7F4EF"/>
                </a:solidFill>
                <a:latin typeface="Calibri"/>
              </a:rPr>
              <a:t>• Not a replacement for root://</a:t>
            </a:r>
          </a:p>
          <a:p>
            <a:pPr>
              <a:spcAft>
                <a:spcPts val="400"/>
              </a:spcAft>
            </a:pPr>
            <a:r>
              <a:rPr sz="1300" b="0" i="0">
                <a:solidFill>
                  <a:srgbClr val="F7F4EF"/>
                </a:solidFill>
                <a:latin typeface="Calibri"/>
              </a:rPr>
              <a:t>• Not HTTP/2 inside the kernel (too much protocol)</a:t>
            </a:r>
          </a:p>
          <a:p>
            <a:pPr>
              <a:spcAft>
                <a:spcPts val="400"/>
              </a:spcAft>
            </a:pPr>
            <a:r>
              <a:rPr sz="1300" b="0" i="0">
                <a:solidFill>
                  <a:srgbClr val="F7F4EF"/>
                </a:solidFill>
                <a:latin typeface="Calibri"/>
              </a:rPr>
              <a:t>• Not GPU I/O on the HTTP path - kTLS copies into CPU pages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6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WHY LLHTTP</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Our parser was a line scanner, not an HTTP parser</a:t>
            </a:r>
          </a:p>
        </p:txBody>
      </p:sp>
      <p:sp>
        <p:nvSpPr>
          <p:cNvPr id="9" name="TextBox 8"/>
          <p:cNvSpPr txBox="1"/>
          <p:nvPr/>
        </p:nvSpPr>
        <p:spPr>
          <a:xfrm>
            <a:off x="502920" y="1737360"/>
            <a:ext cx="11155680" cy="868680"/>
          </a:xfrm>
          <a:prstGeom prst="rect">
            <a:avLst/>
          </a:prstGeom>
          <a:noFill/>
        </p:spPr>
        <p:txBody>
          <a:bodyPr wrap="square">
            <a:spAutoFit/>
          </a:bodyPr>
          <a:lstStyle/>
          <a:p>
            <a:pPr algn="l"/>
            <a:r>
              <a:rPr sz="1600" b="0" i="0">
                <a:solidFill>
                  <a:srgbClr val="C9BFB6"/>
                </a:solidFill>
                <a:latin typeface="Calibri"/>
              </a:rPr>
              <a:t>On master, headers are read with BuffgetLine (scan for newline) and parseLine (split on the first colon). The code itself calls this “naive parsing”. That is enough for a friendly curl client. It is a poor base for HTTP/2, keepalive, and hostile input.</a:t>
            </a:r>
          </a:p>
        </p:txBody>
      </p:sp>
      <p:sp>
        <p:nvSpPr>
          <p:cNvPr id="10" name="Rounded Rectangle 9"/>
          <p:cNvSpPr/>
          <p:nvPr/>
        </p:nvSpPr>
        <p:spPr>
          <a:xfrm>
            <a:off x="502920" y="2697480"/>
            <a:ext cx="5486400" cy="306324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2788920"/>
            <a:ext cx="5266944" cy="292608"/>
          </a:xfrm>
          <a:prstGeom prst="rect">
            <a:avLst/>
          </a:prstGeom>
          <a:noFill/>
        </p:spPr>
        <p:txBody>
          <a:bodyPr wrap="square">
            <a:spAutoFit/>
          </a:bodyPr>
          <a:lstStyle/>
          <a:p>
            <a:pPr algn="l"/>
            <a:r>
              <a:rPr sz="1500" b="1" i="0">
                <a:solidFill>
                  <a:srgbClr val="B8923A"/>
                </a:solidFill>
                <a:latin typeface="Calibri"/>
              </a:rPr>
              <a:t>Problems with the own parser</a:t>
            </a:r>
          </a:p>
        </p:txBody>
      </p:sp>
      <p:sp>
        <p:nvSpPr>
          <p:cNvPr id="12" name="TextBox 11"/>
          <p:cNvSpPr txBox="1"/>
          <p:nvPr/>
        </p:nvSpPr>
        <p:spPr>
          <a:xfrm>
            <a:off x="612648" y="3099816"/>
            <a:ext cx="5266944" cy="2569464"/>
          </a:xfrm>
          <a:prstGeom prst="rect">
            <a:avLst/>
          </a:prstGeom>
          <a:noFill/>
        </p:spPr>
        <p:txBody>
          <a:bodyPr wrap="square">
            <a:spAutoFit/>
          </a:bodyPr>
          <a:lstStyle/>
          <a:p>
            <a:pPr>
              <a:spcAft>
                <a:spcPts val="400"/>
              </a:spcAft>
            </a:pPr>
            <a:r>
              <a:rPr sz="1300" b="0" i="0">
                <a:solidFill>
                  <a:srgbClr val="F7F4EF"/>
                </a:solidFill>
                <a:latin typeface="Calibri"/>
              </a:rPr>
              <a:t>• Only complete lines. A header split across two reads waits for newline.</a:t>
            </a:r>
          </a:p>
          <a:p>
            <a:pPr>
              <a:spcAft>
                <a:spcPts val="400"/>
              </a:spcAft>
            </a:pPr>
            <a:r>
              <a:rPr sz="1300" b="0" i="0">
                <a:solidFill>
                  <a:srgbClr val="F7F4EF"/>
                </a:solidFill>
                <a:latin typeface="Calibri"/>
              </a:rPr>
              <a:t>• Rewrites the receive buffer in place (inserts NUL).</a:t>
            </a:r>
          </a:p>
          <a:p>
            <a:pPr>
              <a:spcAft>
                <a:spcPts val="400"/>
              </a:spcAft>
            </a:pPr>
            <a:r>
              <a:rPr sz="1300" b="0" i="0">
                <a:solidFill>
                  <a:srgbClr val="F7F4EF"/>
                </a:solidFill>
                <a:latin typeface="Calibri"/>
              </a:rPr>
              <a:t>• Header values still carry CR-LF; Connection is compared to “Keep-Alive\r\n”.</a:t>
            </a:r>
          </a:p>
          <a:p>
            <a:pPr>
              <a:spcAft>
                <a:spcPts val="400"/>
              </a:spcAft>
            </a:pPr>
            <a:r>
              <a:rPr sz="1300" b="0" i="0">
                <a:solidFill>
                  <a:srgbClr val="F7F4EF"/>
                </a:solidFill>
                <a:latin typeface="Calibri"/>
              </a:rPr>
              <a:t>• No real grammar: a bad method or a huge incomplete header is easy to mishandle.</a:t>
            </a:r>
          </a:p>
          <a:p>
            <a:pPr>
              <a:spcAft>
                <a:spcPts val="400"/>
              </a:spcAft>
            </a:pPr>
            <a:r>
              <a:rPr sz="1300" b="0" i="0">
                <a:solidFill>
                  <a:srgbClr val="F7F4EF"/>
                </a:solidFill>
                <a:latin typeface="Calibri"/>
              </a:rPr>
              <a:t>• HTTP/2 headers are HPACK, not lines - this parser cannot be reused.</a:t>
            </a:r>
          </a:p>
        </p:txBody>
      </p:sp>
      <p:sp>
        <p:nvSpPr>
          <p:cNvPr id="13" name="Rounded Rectangle 12"/>
          <p:cNvSpPr/>
          <p:nvPr/>
        </p:nvSpPr>
        <p:spPr>
          <a:xfrm>
            <a:off x="6217920" y="2697480"/>
            <a:ext cx="5486400" cy="306324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2788920"/>
            <a:ext cx="5266944" cy="292608"/>
          </a:xfrm>
          <a:prstGeom prst="rect">
            <a:avLst/>
          </a:prstGeom>
          <a:noFill/>
        </p:spPr>
        <p:txBody>
          <a:bodyPr wrap="square">
            <a:spAutoFit/>
          </a:bodyPr>
          <a:lstStyle/>
          <a:p>
            <a:pPr algn="l"/>
            <a:r>
              <a:rPr sz="1500" b="1" i="0">
                <a:solidFill>
                  <a:srgbClr val="B8923A"/>
                </a:solidFill>
                <a:latin typeface="Calibri"/>
              </a:rPr>
              <a:t>What llhttp gives us</a:t>
            </a:r>
          </a:p>
        </p:txBody>
      </p:sp>
      <p:sp>
        <p:nvSpPr>
          <p:cNvPr id="15" name="TextBox 14"/>
          <p:cNvSpPr txBox="1"/>
          <p:nvPr/>
        </p:nvSpPr>
        <p:spPr>
          <a:xfrm>
            <a:off x="6327648" y="3099816"/>
            <a:ext cx="5266944" cy="2569464"/>
          </a:xfrm>
          <a:prstGeom prst="rect">
            <a:avLst/>
          </a:prstGeom>
          <a:noFill/>
        </p:spPr>
        <p:txBody>
          <a:bodyPr wrap="square">
            <a:spAutoFit/>
          </a:bodyPr>
          <a:lstStyle/>
          <a:p>
            <a:pPr>
              <a:spcAft>
                <a:spcPts val="400"/>
              </a:spcAft>
            </a:pPr>
            <a:r>
              <a:rPr sz="1300" b="0" i="0">
                <a:solidFill>
                  <a:srgbClr val="F7F4EF"/>
                </a:solidFill>
                <a:latin typeface="Calibri"/>
              </a:rPr>
              <a:t>• Generated state machine (Node.js, MIT, vendored v9.4.1).</a:t>
            </a:r>
          </a:p>
          <a:p>
            <a:pPr>
              <a:spcAft>
                <a:spcPts val="400"/>
              </a:spcAft>
            </a:pPr>
            <a:r>
              <a:rPr sz="1300" b="0" i="0">
                <a:solidFill>
                  <a:srgbClr val="F7F4EF"/>
                </a:solidFill>
                <a:latin typeface="Calibri"/>
              </a:rPr>
              <a:t>• Incremental: feed whatever bytes are on the socket.</a:t>
            </a:r>
          </a:p>
          <a:p>
            <a:pPr>
              <a:spcAft>
                <a:spcPts val="400"/>
              </a:spcAft>
            </a:pPr>
            <a:r>
              <a:rPr sz="1300" b="0" i="0">
                <a:solidFill>
                  <a:srgbClr val="F7F4EF"/>
                </a:solidFill>
                <a:latin typeface="Calibri"/>
              </a:rPr>
              <a:t>• Rejects malformed request lines; 16 KiB incomplete-header cap.</a:t>
            </a:r>
          </a:p>
          <a:p>
            <a:pPr>
              <a:spcAft>
                <a:spcPts val="400"/>
              </a:spcAft>
            </a:pPr>
            <a:r>
              <a:rPr sz="1300" b="0" i="0">
                <a:solidFill>
                  <a:srgbClr val="F7F4EF"/>
                </a:solidFill>
                <a:latin typeface="Calibri"/>
              </a:rPr>
              <a:t>• Name/value callbacks fill the same XrdHttpReq as HTTP/2.</a:t>
            </a:r>
          </a:p>
          <a:p>
            <a:pPr>
              <a:spcAft>
                <a:spcPts val="400"/>
              </a:spcAft>
            </a:pPr>
            <a:r>
              <a:rPr sz="1300" b="0" i="0">
                <a:solidFill>
                  <a:srgbClr val="F7F4EF"/>
                </a:solidFill>
                <a:latin typeface="Calibri"/>
              </a:rPr>
              <a:t>• http.parser legacy remains for A/B and old tests.</a:t>
            </a:r>
          </a:p>
        </p:txBody>
      </p:sp>
      <p:sp>
        <p:nvSpPr>
          <p:cNvPr id="16" name="TextBox 15"/>
          <p:cNvSpPr txBox="1"/>
          <p:nvPr/>
        </p:nvSpPr>
        <p:spPr>
          <a:xfrm>
            <a:off x="502920" y="5852160"/>
            <a:ext cx="11155680" cy="502920"/>
          </a:xfrm>
          <a:prstGeom prst="rect">
            <a:avLst/>
          </a:prstGeom>
          <a:noFill/>
        </p:spPr>
        <p:txBody>
          <a:bodyPr wrap="square">
            <a:spAutoFit/>
          </a:bodyPr>
          <a:lstStyle/>
          <a:p>
            <a:pPr algn="l"/>
            <a:r>
              <a:rPr sz="1300" b="0" i="0">
                <a:solidFill>
                  <a:srgbClr val="C9BFB6"/>
                </a:solidFill>
                <a:latin typeface="Calibri"/>
              </a:rPr>
              <a:t>This is not a speed project. On a typical GET the native line scanner is actually a bit faster. We switched so HTTP/1 is correct, bounded, and shares one request object with HTTP/2.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7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WHY HTTP/2</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Many file operations on one connection</a:t>
            </a:r>
          </a:p>
        </p:txBody>
      </p:sp>
      <p:sp>
        <p:nvSpPr>
          <p:cNvPr id="9" name="TextBox 8"/>
          <p:cNvSpPr txBox="1"/>
          <p:nvPr/>
        </p:nvSpPr>
        <p:spPr>
          <a:xfrm>
            <a:off x="502920" y="1874519"/>
            <a:ext cx="5486400" cy="274320"/>
          </a:xfrm>
          <a:prstGeom prst="rect">
            <a:avLst/>
          </a:prstGeom>
          <a:noFill/>
        </p:spPr>
        <p:txBody>
          <a:bodyPr wrap="square">
            <a:spAutoFit/>
          </a:bodyPr>
          <a:lstStyle/>
          <a:p>
            <a:pPr algn="l"/>
            <a:r>
              <a:rPr sz="1400" b="1" i="0">
                <a:solidFill>
                  <a:srgbClr val="F7F4EF"/>
                </a:solidFill>
                <a:latin typeface="Calibri"/>
              </a:rPr>
              <a:t>HTTP/1.1 - one request, then the next</a:t>
            </a:r>
          </a:p>
        </p:txBody>
      </p:sp>
      <p:sp>
        <p:nvSpPr>
          <p:cNvPr id="10" name="TextBox 9"/>
          <p:cNvSpPr txBox="1"/>
          <p:nvPr/>
        </p:nvSpPr>
        <p:spPr>
          <a:xfrm>
            <a:off x="6492240" y="1874519"/>
            <a:ext cx="5212080" cy="274320"/>
          </a:xfrm>
          <a:prstGeom prst="rect">
            <a:avLst/>
          </a:prstGeom>
          <a:noFill/>
        </p:spPr>
        <p:txBody>
          <a:bodyPr wrap="square">
            <a:spAutoFit/>
          </a:bodyPr>
          <a:lstStyle/>
          <a:p>
            <a:pPr algn="l"/>
            <a:r>
              <a:rPr sz="1400" b="1" i="0">
                <a:solidFill>
                  <a:srgbClr val="F7F4EF"/>
                </a:solidFill>
                <a:latin typeface="Calibri"/>
              </a:rPr>
              <a:t>HTTP/2 - several streams at once</a:t>
            </a:r>
          </a:p>
        </p:txBody>
      </p:sp>
      <p:sp>
        <p:nvSpPr>
          <p:cNvPr id="11" name="Rounded Rectangle 10"/>
          <p:cNvSpPr/>
          <p:nvPr/>
        </p:nvSpPr>
        <p:spPr>
          <a:xfrm>
            <a:off x="502920" y="2240280"/>
            <a:ext cx="2926080" cy="347472"/>
          </a:xfrm>
          <a:prstGeom prst="roundRect">
            <a:avLst/>
          </a:prstGeom>
          <a:solidFill>
            <a:srgbClr val="E8A0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267712"/>
            <a:ext cx="2743200" cy="292608"/>
          </a:xfrm>
          <a:prstGeom prst="rect">
            <a:avLst/>
          </a:prstGeom>
          <a:noFill/>
        </p:spPr>
        <p:txBody>
          <a:bodyPr wrap="square">
            <a:spAutoFit/>
          </a:bodyPr>
          <a:lstStyle/>
          <a:p>
            <a:pPr algn="l"/>
            <a:r>
              <a:rPr sz="1200" b="1" i="0">
                <a:solidFill>
                  <a:srgbClr val="111111"/>
                </a:solidFill>
                <a:latin typeface="Calibri"/>
              </a:rPr>
              <a:t>GET /a</a:t>
            </a:r>
          </a:p>
        </p:txBody>
      </p:sp>
      <p:sp>
        <p:nvSpPr>
          <p:cNvPr id="13" name="TextBox 12"/>
          <p:cNvSpPr txBox="1"/>
          <p:nvPr/>
        </p:nvSpPr>
        <p:spPr>
          <a:xfrm>
            <a:off x="3566160" y="2267712"/>
            <a:ext cx="2377440" cy="292608"/>
          </a:xfrm>
          <a:prstGeom prst="rect">
            <a:avLst/>
          </a:prstGeom>
          <a:noFill/>
        </p:spPr>
        <p:txBody>
          <a:bodyPr wrap="square">
            <a:spAutoFit/>
          </a:bodyPr>
          <a:lstStyle/>
          <a:p>
            <a:pPr algn="l"/>
            <a:r>
              <a:rPr sz="1200" b="0" i="0">
                <a:solidFill>
                  <a:srgbClr val="C9BFB6"/>
                </a:solidFill>
                <a:latin typeface="Calibri"/>
              </a:rPr>
              <a:t>next request waits</a:t>
            </a:r>
          </a:p>
        </p:txBody>
      </p:sp>
      <p:sp>
        <p:nvSpPr>
          <p:cNvPr id="14" name="Rounded Rectangle 13"/>
          <p:cNvSpPr/>
          <p:nvPr/>
        </p:nvSpPr>
        <p:spPr>
          <a:xfrm>
            <a:off x="6492240" y="2240280"/>
            <a:ext cx="3840480" cy="292608"/>
          </a:xfrm>
          <a:prstGeom prst="roundRect">
            <a:avLst/>
          </a:prstGeom>
          <a:solidFill>
            <a:srgbClr val="E8A0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249424"/>
            <a:ext cx="3657600" cy="274320"/>
          </a:xfrm>
          <a:prstGeom prst="rect">
            <a:avLst/>
          </a:prstGeom>
          <a:noFill/>
        </p:spPr>
        <p:txBody>
          <a:bodyPr wrap="square">
            <a:spAutoFit/>
          </a:bodyPr>
          <a:lstStyle/>
          <a:p>
            <a:pPr algn="l"/>
            <a:r>
              <a:rPr sz="1200" b="1" i="0">
                <a:solidFill>
                  <a:srgbClr val="111111"/>
                </a:solidFill>
                <a:latin typeface="Calibri"/>
              </a:rPr>
              <a:t>GET /a</a:t>
            </a:r>
          </a:p>
        </p:txBody>
      </p:sp>
      <p:sp>
        <p:nvSpPr>
          <p:cNvPr id="16" name="Rounded Rectangle 15"/>
          <p:cNvSpPr/>
          <p:nvPr/>
        </p:nvSpPr>
        <p:spPr>
          <a:xfrm>
            <a:off x="6492240" y="2606040"/>
            <a:ext cx="2926080" cy="292608"/>
          </a:xfrm>
          <a:prstGeom prst="round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2615184"/>
            <a:ext cx="2743200" cy="274320"/>
          </a:xfrm>
          <a:prstGeom prst="rect">
            <a:avLst/>
          </a:prstGeom>
          <a:noFill/>
        </p:spPr>
        <p:txBody>
          <a:bodyPr wrap="square">
            <a:spAutoFit/>
          </a:bodyPr>
          <a:lstStyle/>
          <a:p>
            <a:pPr algn="l"/>
            <a:r>
              <a:rPr sz="1200" b="1" i="0">
                <a:solidFill>
                  <a:srgbClr val="111111"/>
                </a:solidFill>
                <a:latin typeface="Calibri"/>
              </a:rPr>
              <a:t>GET /b</a:t>
            </a:r>
          </a:p>
        </p:txBody>
      </p:sp>
      <p:sp>
        <p:nvSpPr>
          <p:cNvPr id="18" name="Rounded Rectangle 17"/>
          <p:cNvSpPr/>
          <p:nvPr/>
        </p:nvSpPr>
        <p:spPr>
          <a:xfrm>
            <a:off x="6492240" y="2971800"/>
            <a:ext cx="4572000" cy="292608"/>
          </a:xfrm>
          <a:prstGeom prst="roundRect">
            <a:avLst/>
          </a:prstGeom>
          <a:solidFill>
            <a:srgbClr val="E8C5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2980944"/>
            <a:ext cx="4389120" cy="274320"/>
          </a:xfrm>
          <a:prstGeom prst="rect">
            <a:avLst/>
          </a:prstGeom>
          <a:noFill/>
        </p:spPr>
        <p:txBody>
          <a:bodyPr wrap="square">
            <a:spAutoFit/>
          </a:bodyPr>
          <a:lstStyle/>
          <a:p>
            <a:pPr algn="l"/>
            <a:r>
              <a:rPr sz="1200" b="1" i="0">
                <a:solidFill>
                  <a:srgbClr val="111111"/>
                </a:solidFill>
                <a:latin typeface="Calibri"/>
              </a:rPr>
              <a:t>PATCH /c  (write)</a:t>
            </a:r>
          </a:p>
        </p:txBody>
      </p:sp>
      <p:sp>
        <p:nvSpPr>
          <p:cNvPr id="20" name="Rounded Rectangle 19"/>
          <p:cNvSpPr/>
          <p:nvPr/>
        </p:nvSpPr>
        <p:spPr>
          <a:xfrm>
            <a:off x="502920" y="3520440"/>
            <a:ext cx="3566160" cy="24688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3611880"/>
            <a:ext cx="3346704" cy="292608"/>
          </a:xfrm>
          <a:prstGeom prst="rect">
            <a:avLst/>
          </a:prstGeom>
          <a:noFill/>
        </p:spPr>
        <p:txBody>
          <a:bodyPr wrap="square">
            <a:spAutoFit/>
          </a:bodyPr>
          <a:lstStyle/>
          <a:p>
            <a:pPr algn="l"/>
            <a:r>
              <a:rPr sz="1500" b="1" i="0">
                <a:solidFill>
                  <a:srgbClr val="B8923A"/>
                </a:solidFill>
                <a:latin typeface="Calibri"/>
              </a:rPr>
              <a:t>LAN / FUSE</a:t>
            </a:r>
          </a:p>
        </p:txBody>
      </p:sp>
      <p:sp>
        <p:nvSpPr>
          <p:cNvPr id="22" name="TextBox 21"/>
          <p:cNvSpPr txBox="1"/>
          <p:nvPr/>
        </p:nvSpPr>
        <p:spPr>
          <a:xfrm>
            <a:off x="612648" y="3922776"/>
            <a:ext cx="3346704" cy="1975104"/>
          </a:xfrm>
          <a:prstGeom prst="rect">
            <a:avLst/>
          </a:prstGeom>
          <a:noFill/>
        </p:spPr>
        <p:txBody>
          <a:bodyPr wrap="square">
            <a:spAutoFit/>
          </a:bodyPr>
          <a:lstStyle/>
          <a:p>
            <a:pPr>
              <a:spcAft>
                <a:spcPts val="400"/>
              </a:spcAft>
            </a:pPr>
            <a:r>
              <a:rPr sz="1300" b="0" i="0">
                <a:solidFill>
                  <a:srgbClr val="F7F4EF"/>
                </a:solidFill>
                <a:latin typeface="Calibri"/>
              </a:rPr>
              <a:t>• A mount does parallel reads and writes. HTTP/2 keeps them on one TLS session. That is the main reason.</a:t>
            </a:r>
          </a:p>
        </p:txBody>
      </p:sp>
      <p:sp>
        <p:nvSpPr>
          <p:cNvPr id="23" name="Rounded Rectangle 22"/>
          <p:cNvSpPr/>
          <p:nvPr/>
        </p:nvSpPr>
        <p:spPr>
          <a:xfrm>
            <a:off x="4297680" y="3520440"/>
            <a:ext cx="3566160" cy="24688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3611880"/>
            <a:ext cx="3346704" cy="292608"/>
          </a:xfrm>
          <a:prstGeom prst="rect">
            <a:avLst/>
          </a:prstGeom>
          <a:noFill/>
        </p:spPr>
        <p:txBody>
          <a:bodyPr wrap="square">
            <a:spAutoFit/>
          </a:bodyPr>
          <a:lstStyle/>
          <a:p>
            <a:pPr algn="l"/>
            <a:r>
              <a:rPr sz="1500" b="1" i="0">
                <a:solidFill>
                  <a:srgbClr val="B8923A"/>
                </a:solidFill>
                <a:latin typeface="Calibri"/>
              </a:rPr>
              <a:t>WAN</a:t>
            </a:r>
          </a:p>
        </p:txBody>
      </p:sp>
      <p:sp>
        <p:nvSpPr>
          <p:cNvPr id="25" name="TextBox 24"/>
          <p:cNvSpPr txBox="1"/>
          <p:nvPr/>
        </p:nvSpPr>
        <p:spPr>
          <a:xfrm>
            <a:off x="4407408" y="3922776"/>
            <a:ext cx="3346704" cy="1975104"/>
          </a:xfrm>
          <a:prstGeom prst="rect">
            <a:avLst/>
          </a:prstGeom>
          <a:noFill/>
        </p:spPr>
        <p:txBody>
          <a:bodyPr wrap="square">
            <a:spAutoFit/>
          </a:bodyPr>
          <a:lstStyle/>
          <a:p>
            <a:pPr>
              <a:spcAft>
                <a:spcPts val="400"/>
              </a:spcAft>
            </a:pPr>
            <a:r>
              <a:rPr sz="1300" b="0" i="0">
                <a:solidFill>
                  <a:srgbClr val="F7F4EF"/>
                </a:solidFill>
                <a:latin typeface="Calibri"/>
              </a:rPr>
              <a:t>• Fewer TCP/TLS handshakes for many small files. Useful, not the driver.</a:t>
            </a:r>
          </a:p>
        </p:txBody>
      </p:sp>
      <p:sp>
        <p:nvSpPr>
          <p:cNvPr id="26" name="Rounded Rectangle 25"/>
          <p:cNvSpPr/>
          <p:nvPr/>
        </p:nvSpPr>
        <p:spPr>
          <a:xfrm>
            <a:off x="8092440" y="3520440"/>
            <a:ext cx="3566160" cy="24688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2167" y="3611880"/>
            <a:ext cx="3346704" cy="292608"/>
          </a:xfrm>
          <a:prstGeom prst="rect">
            <a:avLst/>
          </a:prstGeom>
          <a:noFill/>
        </p:spPr>
        <p:txBody>
          <a:bodyPr wrap="square">
            <a:spAutoFit/>
          </a:bodyPr>
          <a:lstStyle/>
          <a:p>
            <a:pPr algn="l"/>
            <a:r>
              <a:rPr sz="1500" b="1" i="0">
                <a:solidFill>
                  <a:srgbClr val="B8923A"/>
                </a:solidFill>
                <a:latin typeface="Calibri"/>
              </a:rPr>
              <a:t>Kernel</a:t>
            </a:r>
          </a:p>
        </p:txBody>
      </p:sp>
      <p:sp>
        <p:nvSpPr>
          <p:cNvPr id="28" name="TextBox 27"/>
          <p:cNvSpPr txBox="1"/>
          <p:nvPr/>
        </p:nvSpPr>
        <p:spPr>
          <a:xfrm>
            <a:off x="8202167" y="3922776"/>
            <a:ext cx="3346704" cy="1975104"/>
          </a:xfrm>
          <a:prstGeom prst="rect">
            <a:avLst/>
          </a:prstGeom>
          <a:noFill/>
        </p:spPr>
        <p:txBody>
          <a:bodyPr wrap="square">
            <a:spAutoFit/>
          </a:bodyPr>
          <a:lstStyle/>
          <a:p>
            <a:pPr>
              <a:spcAft>
                <a:spcPts val="400"/>
              </a:spcAft>
            </a:pPr>
            <a:r>
              <a:rPr sz="1300" b="0" i="0">
                <a:solidFill>
                  <a:srgbClr val="F7F4EF"/>
                </a:solidFill>
                <a:latin typeface="Calibri"/>
              </a:rPr>
              <a:t>• The kernel module uses HTTP/1.1. HTTP/2 is too large (HPACK, streams). The kernel reuses the same methods (GET, PATCH,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8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LIMITS</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XrdHTTP is still one plugin on one XRootD link</a:t>
            </a:r>
          </a:p>
        </p:txBody>
      </p:sp>
      <p:graphicFrame>
        <p:nvGraphicFramePr>
          <p:cNvPr id="9" name="Table 8"/>
          <p:cNvGraphicFramePr>
            <a:graphicFrameLocks noGrp="1"/>
          </p:cNvGraphicFramePr>
          <p:nvPr/>
        </p:nvGraphicFramePr>
        <p:xfrm>
          <a:off x="502920" y="1874519"/>
          <a:ext cx="11155680" cy="4206240"/>
        </p:xfrm>
        <a:graphic>
          <a:graphicData uri="http://schemas.openxmlformats.org/drawingml/2006/table">
            <a:tbl>
              <a:tblPr firstRow="1" bandRow="1">
                <a:tableStyleId>{5C22544A-7EE6-4342-B048-85BDC9FD1C3A}</a:tableStyleId>
              </a:tblPr>
              <a:tblGrid>
                <a:gridCol w="4937760"/>
                <a:gridCol w="6217920"/>
              </a:tblGrid>
              <a:tr h="701040">
                <a:tc>
                  <a:txBody>
                    <a:bodyPr wrap="square"/>
                    <a:lstStyle/>
                    <a:p>
                      <a:pPr algn="l"/>
                      <a:r>
                        <a:rPr sz="1100" b="1" i="0">
                          <a:solidFill>
                            <a:srgbClr val="B8923A"/>
                          </a:solidFill>
                          <a:latin typeface="Calibri"/>
                        </a:rPr>
                        <a:t>XRootD fact</a:t>
                      </a:r>
                    </a:p>
                  </a:txBody>
                  <a:tcPr>
                    <a:solidFill>
                      <a:srgbClr val="1E1810"/>
                    </a:solidFill>
                  </a:tcPr>
                </a:tc>
                <a:tc>
                  <a:txBody>
                    <a:bodyPr wrap="square"/>
                    <a:lstStyle/>
                    <a:p>
                      <a:pPr algn="l"/>
                      <a:r>
                        <a:rPr sz="1100" b="1" i="0">
                          <a:solidFill>
                            <a:srgbClr val="B8923A"/>
                          </a:solidFill>
                          <a:latin typeface="Calibri"/>
                        </a:rPr>
                        <a:t>What it means here</a:t>
                      </a:r>
                    </a:p>
                  </a:txBody>
                  <a:tcPr>
                    <a:solidFill>
                      <a:srgbClr val="1E1810"/>
                    </a:solidFill>
                  </a:tcPr>
                </a:tc>
              </a:tr>
              <a:tr h="701040">
                <a:tc>
                  <a:txBody>
                    <a:bodyPr wrap="square"/>
                    <a:lstStyle/>
                    <a:p>
                      <a:pPr algn="l"/>
                      <a:r>
                        <a:rPr sz="1200" b="0" i="0">
                          <a:solidFill>
                            <a:srgbClr val="F7F4EF"/>
                          </a:solidFill>
                          <a:latin typeface="Calibri"/>
                        </a:rPr>
                        <a:t>One Bridge-&gt;Run() at a time per connection</a:t>
                      </a:r>
                    </a:p>
                  </a:txBody>
                  <a:tcPr>
                    <a:solidFill>
                      <a:srgbClr val="161416"/>
                    </a:solidFill>
                  </a:tcPr>
                </a:tc>
                <a:tc>
                  <a:txBody>
                    <a:bodyPr wrap="square"/>
                    <a:lstStyle/>
                    <a:p>
                      <a:pPr algn="l"/>
                      <a:r>
                        <a:rPr sz="1200" b="0" i="0">
                          <a:solidFill>
                            <a:srgbClr val="F7F4EF"/>
                          </a:solidFill>
                          <a:latin typeface="Calibri"/>
                        </a:rPr>
                        <a:t>HTTP/2 can queue many streams. File I/O still runs one after another.</a:t>
                      </a:r>
                    </a:p>
                  </a:txBody>
                  <a:tcPr>
                    <a:solidFill>
                      <a:srgbClr val="161416"/>
                    </a:solidFill>
                  </a:tcPr>
                </a:tc>
              </a:tr>
              <a:tr h="701040">
                <a:tc>
                  <a:txBody>
                    <a:bodyPr wrap="square"/>
                    <a:lstStyle/>
                    <a:p>
                      <a:pPr algn="l"/>
                      <a:r>
                        <a:rPr sz="1200" b="0" i="0">
                          <a:solidFill>
                            <a:srgbClr val="F7F4EF"/>
                          </a:solidFill>
                          <a:latin typeface="Calibri"/>
                        </a:rPr>
                        <a:t>Process() returns 0 (continue), 1 (wait), or close</a:t>
                      </a:r>
                    </a:p>
                  </a:txBody>
                  <a:tcPr>
                    <a:solidFill>
                      <a:srgbClr val="161416"/>
                    </a:solidFill>
                  </a:tcPr>
                </a:tc>
                <a:tc>
                  <a:txBody>
                    <a:bodyPr wrap="square"/>
                    <a:lstStyle/>
                    <a:p>
                      <a:pPr algn="l"/>
                      <a:r>
                        <a:rPr sz="1200" b="0" i="0">
                          <a:solidFill>
                            <a:srgbClr val="F7F4EF"/>
                          </a:solidFill>
                          <a:latin typeface="Calibri"/>
                        </a:rPr>
                        <a:t>HTTP/2 must follow that. It is not a thread per stream.</a:t>
                      </a:r>
                    </a:p>
                  </a:txBody>
                  <a:tcPr>
                    <a:solidFill>
                      <a:srgbClr val="161416"/>
                    </a:solidFill>
                  </a:tcPr>
                </a:tc>
              </a:tr>
              <a:tr h="701040">
                <a:tc>
                  <a:txBody>
                    <a:bodyPr wrap="square"/>
                    <a:lstStyle/>
                    <a:p>
                      <a:pPr algn="l"/>
                      <a:r>
                        <a:rPr sz="1200" b="0" i="0">
                          <a:solidFill>
                            <a:srgbClr val="F7F4EF"/>
                          </a:solidFill>
                          <a:latin typeface="Calibri"/>
                        </a:rPr>
                        <a:t>HTTPS already cannot use sendfile</a:t>
                      </a:r>
                    </a:p>
                  </a:txBody>
                  <a:tcPr>
                    <a:solidFill>
                      <a:srgbClr val="161416"/>
                    </a:solidFill>
                  </a:tcPr>
                </a:tc>
                <a:tc>
                  <a:txBody>
                    <a:bodyPr wrap="square"/>
                    <a:lstStyle/>
                    <a:p>
                      <a:pPr algn="l"/>
                      <a:r>
                        <a:rPr sz="1200" b="0" i="0">
                          <a:solidFill>
                            <a:srgbClr val="F7F4EF"/>
                          </a:solidFill>
                          <a:latin typeface="Calibri"/>
                        </a:rPr>
                        <a:t>HTTP/2 cannot either. Zero-copy stays HTTP/1.1 without TLS.</a:t>
                      </a:r>
                    </a:p>
                  </a:txBody>
                  <a:tcPr>
                    <a:solidFill>
                      <a:srgbClr val="161416"/>
                    </a:solidFill>
                  </a:tcPr>
                </a:tc>
              </a:tr>
              <a:tr h="701040">
                <a:tc>
                  <a:txBody>
                    <a:bodyPr wrap="square"/>
                    <a:lstStyle/>
                    <a:p>
                      <a:pPr algn="l"/>
                      <a:r>
                        <a:rPr sz="1200" b="0" i="0">
                          <a:solidFill>
                            <a:srgbClr val="F7F4EF"/>
                          </a:solidFill>
                          <a:latin typeface="Calibri"/>
                        </a:rPr>
                        <a:t>Login is SecEntity</a:t>
                      </a:r>
                    </a:p>
                  </a:txBody>
                  <a:tcPr>
                    <a:solidFill>
                      <a:srgbClr val="161416"/>
                    </a:solidFill>
                  </a:tcPr>
                </a:tc>
                <a:tc>
                  <a:txBody>
                    <a:bodyPr wrap="square"/>
                    <a:lstStyle/>
                    <a:p>
                      <a:pPr algn="l"/>
                      <a:r>
                        <a:rPr sz="1200" b="0" i="0">
                          <a:solidFill>
                            <a:srgbClr val="F7F4EF"/>
                          </a:solidFill>
                          <a:latin typeface="Calibri"/>
                        </a:rPr>
                        <a:t>Kerberos, tokens, and GSI all become a normal XRootD identity.</a:t>
                      </a:r>
                    </a:p>
                  </a:txBody>
                  <a:tcPr>
                    <a:solidFill>
                      <a:srgbClr val="161416"/>
                    </a:solidFill>
                  </a:tcPr>
                </a:tc>
              </a:tr>
              <a:tr h="701040">
                <a:tc>
                  <a:txBody>
                    <a:bodyPr wrap="square"/>
                    <a:lstStyle/>
                    <a:p>
                      <a:pPr algn="l"/>
                      <a:r>
                        <a:rPr sz="1200" b="0" i="0">
                          <a:solidFill>
                            <a:srgbClr val="F7F4EF"/>
                          </a:solidFill>
                          <a:latin typeface="Calibri"/>
                        </a:rPr>
                        <a:t>kTLS is CPU memory</a:t>
                      </a:r>
                    </a:p>
                  </a:txBody>
                  <a:tcPr>
                    <a:solidFill>
                      <a:srgbClr val="161416"/>
                    </a:solidFill>
                  </a:tcPr>
                </a:tc>
                <a:tc>
                  <a:txBody>
                    <a:bodyPr wrap="square"/>
                    <a:lstStyle/>
                    <a:p>
                      <a:pPr algn="l"/>
                      <a:r>
                        <a:rPr sz="1200" b="0" i="0">
                          <a:solidFill>
                            <a:srgbClr val="F7F4EF"/>
                          </a:solidFill>
                          <a:latin typeface="Calibri"/>
                        </a:rPr>
                        <a:t>No GPU DMA on the HTTP path. GPU I/O waits for RDMA.</a:t>
                      </a:r>
                    </a:p>
                  </a:txBody>
                  <a:tcPr>
                    <a:solidFill>
                      <a:srgbClr val="161416"/>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9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LIMITS · PARALLELISM</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One socket can carry many streams. One Bridge still does not.</a:t>
            </a:r>
          </a:p>
        </p:txBody>
      </p:sp>
      <p:sp>
        <p:nvSpPr>
          <p:cNvPr id="9" name="TextBox 8"/>
          <p:cNvSpPr txBox="1"/>
          <p:nvPr/>
        </p:nvSpPr>
        <p:spPr>
          <a:xfrm>
            <a:off x="502920" y="1691640"/>
            <a:ext cx="11155680" cy="457200"/>
          </a:xfrm>
          <a:prstGeom prst="rect">
            <a:avLst/>
          </a:prstGeom>
          <a:noFill/>
        </p:spPr>
        <p:txBody>
          <a:bodyPr wrap="square">
            <a:spAutoFit/>
          </a:bodyPr>
          <a:lstStyle/>
          <a:p>
            <a:pPr algn="l"/>
            <a:r>
              <a:rPr sz="1600" b="0" i="0">
                <a:solidFill>
                  <a:srgbClr val="C9BFB6"/>
                </a:solidFill>
                <a:latin typeface="Calibri"/>
              </a:rPr>
              <a:t>Three GETs on one HTTP/2 session. Left: today. Right: a normal HTTP/2 origin, and what we would need on the same node.</a:t>
            </a:r>
          </a:p>
        </p:txBody>
      </p:sp>
      <p:sp>
        <p:nvSpPr>
          <p:cNvPr id="10" name="TextBox 9"/>
          <p:cNvSpPr txBox="1"/>
          <p:nvPr/>
        </p:nvSpPr>
        <p:spPr>
          <a:xfrm>
            <a:off x="365760" y="1965960"/>
            <a:ext cx="5669280" cy="237744"/>
          </a:xfrm>
          <a:prstGeom prst="rect">
            <a:avLst/>
          </a:prstGeom>
          <a:noFill/>
        </p:spPr>
        <p:txBody>
          <a:bodyPr wrap="square">
            <a:spAutoFit/>
          </a:bodyPr>
          <a:lstStyle/>
          <a:p>
            <a:pPr algn="l"/>
            <a:r>
              <a:rPr sz="1200" b="1" i="0">
                <a:solidFill>
                  <a:srgbClr val="E8A0BF"/>
                </a:solidFill>
                <a:latin typeface="Calibri"/>
              </a:rPr>
              <a:t>TODAY - SERIAL BRIDGE, THEN FAN-OUT</a:t>
            </a:r>
          </a:p>
        </p:txBody>
      </p:sp>
      <p:sp>
        <p:nvSpPr>
          <p:cNvPr id="11" name="Rounded Rectangle 10"/>
          <p:cNvSpPr/>
          <p:nvPr/>
        </p:nvSpPr>
        <p:spPr>
          <a:xfrm>
            <a:off x="777240" y="2212848"/>
            <a:ext cx="4846320" cy="804672"/>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304288"/>
            <a:ext cx="4626864" cy="292608"/>
          </a:xfrm>
          <a:prstGeom prst="rect">
            <a:avLst/>
          </a:prstGeom>
          <a:noFill/>
        </p:spPr>
        <p:txBody>
          <a:bodyPr wrap="square">
            <a:spAutoFit/>
          </a:bodyPr>
          <a:lstStyle/>
          <a:p>
            <a:pPr algn="l"/>
            <a:r>
              <a:rPr sz="1500" b="1" i="0">
                <a:solidFill>
                  <a:srgbClr val="B8923A"/>
                </a:solidFill>
                <a:latin typeface="Calibri"/>
              </a:rPr>
              <a:t>HTTP/2 client</a:t>
            </a:r>
          </a:p>
        </p:txBody>
      </p:sp>
      <p:sp>
        <p:nvSpPr>
          <p:cNvPr id="13" name="TextBox 12"/>
          <p:cNvSpPr txBox="1"/>
          <p:nvPr/>
        </p:nvSpPr>
        <p:spPr>
          <a:xfrm>
            <a:off x="886968" y="2615184"/>
            <a:ext cx="4626864" cy="310896"/>
          </a:xfrm>
          <a:prstGeom prst="rect">
            <a:avLst/>
          </a:prstGeom>
          <a:noFill/>
        </p:spPr>
        <p:txBody>
          <a:bodyPr wrap="square">
            <a:spAutoFit/>
          </a:bodyPr>
          <a:lstStyle/>
          <a:p>
            <a:pPr>
              <a:spcAft>
                <a:spcPts val="400"/>
              </a:spcAft>
            </a:pPr>
            <a:r>
              <a:rPr sz="1300" b="0" i="0">
                <a:solidFill>
                  <a:srgbClr val="F7F4EF"/>
                </a:solidFill>
                <a:latin typeface="Calibri"/>
              </a:rPr>
              <a:t>• streams 1, 3, 5</a:t>
            </a:r>
          </a:p>
        </p:txBody>
      </p:sp>
      <p:sp>
        <p:nvSpPr>
          <p:cNvPr id="14" name="Rounded Rectangle 13"/>
          <p:cNvSpPr/>
          <p:nvPr/>
        </p:nvSpPr>
        <p:spPr>
          <a:xfrm>
            <a:off x="777240" y="3054096"/>
            <a:ext cx="4846320" cy="804672"/>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3145536"/>
            <a:ext cx="4626864" cy="292608"/>
          </a:xfrm>
          <a:prstGeom prst="rect">
            <a:avLst/>
          </a:prstGeom>
          <a:noFill/>
        </p:spPr>
        <p:txBody>
          <a:bodyPr wrap="square">
            <a:spAutoFit/>
          </a:bodyPr>
          <a:lstStyle/>
          <a:p>
            <a:pPr algn="l"/>
            <a:r>
              <a:rPr sz="1500" b="1" i="0">
                <a:solidFill>
                  <a:srgbClr val="B8923A"/>
                </a:solidFill>
                <a:latin typeface="Calibri"/>
              </a:rPr>
              <a:t>1 TLS socket</a:t>
            </a:r>
          </a:p>
        </p:txBody>
      </p:sp>
      <p:sp>
        <p:nvSpPr>
          <p:cNvPr id="16" name="TextBox 15"/>
          <p:cNvSpPr txBox="1"/>
          <p:nvPr/>
        </p:nvSpPr>
        <p:spPr>
          <a:xfrm>
            <a:off x="886968" y="3456432"/>
            <a:ext cx="4626864" cy="310896"/>
          </a:xfrm>
          <a:prstGeom prst="rect">
            <a:avLst/>
          </a:prstGeom>
          <a:noFill/>
        </p:spPr>
        <p:txBody>
          <a:bodyPr wrap="square">
            <a:spAutoFit/>
          </a:bodyPr>
          <a:lstStyle/>
          <a:p>
            <a:pPr>
              <a:spcAft>
                <a:spcPts val="400"/>
              </a:spcAft>
            </a:pPr>
            <a:r>
              <a:rPr sz="1300" b="0" i="0">
                <a:solidFill>
                  <a:srgbClr val="F7F4EF"/>
                </a:solidFill>
                <a:latin typeface="Calibri"/>
              </a:rPr>
              <a:t>• GETs already on the wire</a:t>
            </a:r>
          </a:p>
        </p:txBody>
      </p:sp>
      <p:sp>
        <p:nvSpPr>
          <p:cNvPr id="17" name="Rounded Rectangle 16"/>
          <p:cNvSpPr/>
          <p:nvPr/>
        </p:nvSpPr>
        <p:spPr>
          <a:xfrm>
            <a:off x="777240" y="3895344"/>
            <a:ext cx="4846320" cy="804672"/>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3986783"/>
            <a:ext cx="4626864" cy="292608"/>
          </a:xfrm>
          <a:prstGeom prst="rect">
            <a:avLst/>
          </a:prstGeom>
          <a:noFill/>
        </p:spPr>
        <p:txBody>
          <a:bodyPr wrap="square">
            <a:spAutoFit/>
          </a:bodyPr>
          <a:lstStyle/>
          <a:p>
            <a:pPr algn="l"/>
            <a:r>
              <a:rPr sz="1500" b="1" i="0">
                <a:solidFill>
                  <a:srgbClr val="B8923A"/>
                </a:solidFill>
                <a:latin typeface="Calibri"/>
              </a:rPr>
              <a:t>nghttp2</a:t>
            </a:r>
          </a:p>
        </p:txBody>
      </p:sp>
      <p:sp>
        <p:nvSpPr>
          <p:cNvPr id="19" name="TextBox 18"/>
          <p:cNvSpPr txBox="1"/>
          <p:nvPr/>
        </p:nvSpPr>
        <p:spPr>
          <a:xfrm>
            <a:off x="886968" y="4297679"/>
            <a:ext cx="4626864" cy="310896"/>
          </a:xfrm>
          <a:prstGeom prst="rect">
            <a:avLst/>
          </a:prstGeom>
          <a:noFill/>
        </p:spPr>
        <p:txBody>
          <a:bodyPr wrap="square">
            <a:spAutoFit/>
          </a:bodyPr>
          <a:lstStyle/>
          <a:p>
            <a:pPr>
              <a:spcAft>
                <a:spcPts val="400"/>
              </a:spcAft>
            </a:pPr>
            <a:r>
              <a:rPr sz="1300" b="0" i="0">
                <a:solidFill>
                  <a:srgbClr val="F7F4EF"/>
                </a:solidFill>
                <a:latin typeface="Calibri"/>
              </a:rPr>
              <a:t>• ready_queue</a:t>
            </a:r>
          </a:p>
        </p:txBody>
      </p:sp>
      <p:sp>
        <p:nvSpPr>
          <p:cNvPr id="20" name="Rounded Rectangle 19"/>
          <p:cNvSpPr/>
          <p:nvPr/>
        </p:nvSpPr>
        <p:spPr>
          <a:xfrm>
            <a:off x="502920" y="4736592"/>
            <a:ext cx="5394960" cy="804672"/>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4828031"/>
            <a:ext cx="5175504" cy="292608"/>
          </a:xfrm>
          <a:prstGeom prst="rect">
            <a:avLst/>
          </a:prstGeom>
          <a:noFill/>
        </p:spPr>
        <p:txBody>
          <a:bodyPr wrap="square">
            <a:spAutoFit/>
          </a:bodyPr>
          <a:lstStyle/>
          <a:p>
            <a:pPr algn="l"/>
            <a:r>
              <a:rPr sz="1500" b="1" i="0">
                <a:solidFill>
                  <a:srgbClr val="B8923A"/>
                </a:solidFill>
                <a:latin typeface="Calibri"/>
              </a:rPr>
              <a:t>one Bridge-&gt;Run()</a:t>
            </a:r>
          </a:p>
        </p:txBody>
      </p:sp>
      <p:sp>
        <p:nvSpPr>
          <p:cNvPr id="22" name="TextBox 21"/>
          <p:cNvSpPr txBox="1"/>
          <p:nvPr/>
        </p:nvSpPr>
        <p:spPr>
          <a:xfrm>
            <a:off x="612648" y="5138927"/>
            <a:ext cx="5175504" cy="310896"/>
          </a:xfrm>
          <a:prstGeom prst="rect">
            <a:avLst/>
          </a:prstGeom>
          <a:noFill/>
        </p:spPr>
        <p:txBody>
          <a:bodyPr wrap="square">
            <a:spAutoFit/>
          </a:bodyPr>
          <a:lstStyle/>
          <a:p>
            <a:pPr>
              <a:spcAft>
                <a:spcPts val="400"/>
              </a:spcAft>
            </a:pPr>
            <a:r>
              <a:rPr sz="1300" b="0" i="0">
                <a:solidFill>
                  <a:srgbClr val="F7F4EF"/>
                </a:solidFill>
                <a:latin typeface="Calibri"/>
              </a:rPr>
              <a:t>• /a then /b then /c - re-entry rejected</a:t>
            </a:r>
          </a:p>
        </p:txBody>
      </p:sp>
      <p:sp>
        <p:nvSpPr>
          <p:cNvPr id="23" name="Rounded Rectangle 22"/>
          <p:cNvSpPr/>
          <p:nvPr/>
        </p:nvSpPr>
        <p:spPr>
          <a:xfrm>
            <a:off x="365760" y="5577840"/>
            <a:ext cx="1783080" cy="77724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 y="5669279"/>
            <a:ext cx="1563624" cy="292608"/>
          </a:xfrm>
          <a:prstGeom prst="rect">
            <a:avLst/>
          </a:prstGeom>
          <a:noFill/>
        </p:spPr>
        <p:txBody>
          <a:bodyPr wrap="square">
            <a:spAutoFit/>
          </a:bodyPr>
          <a:lstStyle/>
          <a:p>
            <a:pPr algn="l"/>
            <a:r>
              <a:rPr sz="1500" b="1" i="0">
                <a:solidFill>
                  <a:srgbClr val="B8923A"/>
                </a:solidFill>
                <a:latin typeface="Calibri"/>
              </a:rPr>
              <a:t>data srv A</a:t>
            </a:r>
          </a:p>
        </p:txBody>
      </p:sp>
      <p:sp>
        <p:nvSpPr>
          <p:cNvPr id="25" name="TextBox 24"/>
          <p:cNvSpPr txBox="1"/>
          <p:nvPr/>
        </p:nvSpPr>
        <p:spPr>
          <a:xfrm>
            <a:off x="475488" y="5980175"/>
            <a:ext cx="1563624" cy="283464"/>
          </a:xfrm>
          <a:prstGeom prst="rect">
            <a:avLst/>
          </a:prstGeom>
          <a:noFill/>
        </p:spPr>
        <p:txBody>
          <a:bodyPr wrap="square">
            <a:spAutoFit/>
          </a:bodyPr>
          <a:lstStyle/>
          <a:p>
            <a:pPr>
              <a:spcAft>
                <a:spcPts val="400"/>
              </a:spcAft>
            </a:pPr>
            <a:r>
              <a:rPr sz="1300" b="0" i="0">
                <a:solidFill>
                  <a:srgbClr val="F7F4EF"/>
                </a:solidFill>
                <a:latin typeface="Calibri"/>
              </a:rPr>
              <a:t>• new socket /a</a:t>
            </a:r>
          </a:p>
        </p:txBody>
      </p:sp>
      <p:sp>
        <p:nvSpPr>
          <p:cNvPr id="26" name="Rounded Rectangle 25"/>
          <p:cNvSpPr/>
          <p:nvPr/>
        </p:nvSpPr>
        <p:spPr>
          <a:xfrm>
            <a:off x="2240280" y="5577840"/>
            <a:ext cx="1783080" cy="77724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50008" y="5669279"/>
            <a:ext cx="1563624" cy="292608"/>
          </a:xfrm>
          <a:prstGeom prst="rect">
            <a:avLst/>
          </a:prstGeom>
          <a:noFill/>
        </p:spPr>
        <p:txBody>
          <a:bodyPr wrap="square">
            <a:spAutoFit/>
          </a:bodyPr>
          <a:lstStyle/>
          <a:p>
            <a:pPr algn="l"/>
            <a:r>
              <a:rPr sz="1500" b="1" i="0">
                <a:solidFill>
                  <a:srgbClr val="B8923A"/>
                </a:solidFill>
                <a:latin typeface="Calibri"/>
              </a:rPr>
              <a:t>data srv B</a:t>
            </a:r>
          </a:p>
        </p:txBody>
      </p:sp>
      <p:sp>
        <p:nvSpPr>
          <p:cNvPr id="28" name="TextBox 27"/>
          <p:cNvSpPr txBox="1"/>
          <p:nvPr/>
        </p:nvSpPr>
        <p:spPr>
          <a:xfrm>
            <a:off x="2350008" y="5980175"/>
            <a:ext cx="1563624" cy="283464"/>
          </a:xfrm>
          <a:prstGeom prst="rect">
            <a:avLst/>
          </a:prstGeom>
          <a:noFill/>
        </p:spPr>
        <p:txBody>
          <a:bodyPr wrap="square">
            <a:spAutoFit/>
          </a:bodyPr>
          <a:lstStyle/>
          <a:p>
            <a:pPr>
              <a:spcAft>
                <a:spcPts val="400"/>
              </a:spcAft>
            </a:pPr>
            <a:r>
              <a:rPr sz="1300" b="0" i="0">
                <a:solidFill>
                  <a:srgbClr val="F7F4EF"/>
                </a:solidFill>
                <a:latin typeface="Calibri"/>
              </a:rPr>
              <a:t>• new socket /b</a:t>
            </a:r>
          </a:p>
        </p:txBody>
      </p:sp>
      <p:sp>
        <p:nvSpPr>
          <p:cNvPr id="29" name="Rounded Rectangle 28"/>
          <p:cNvSpPr/>
          <p:nvPr/>
        </p:nvSpPr>
        <p:spPr>
          <a:xfrm>
            <a:off x="4114800" y="5577840"/>
            <a:ext cx="1783080" cy="77724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8" y="5669279"/>
            <a:ext cx="1563624" cy="292608"/>
          </a:xfrm>
          <a:prstGeom prst="rect">
            <a:avLst/>
          </a:prstGeom>
          <a:noFill/>
        </p:spPr>
        <p:txBody>
          <a:bodyPr wrap="square">
            <a:spAutoFit/>
          </a:bodyPr>
          <a:lstStyle/>
          <a:p>
            <a:pPr algn="l"/>
            <a:r>
              <a:rPr sz="1500" b="1" i="0">
                <a:solidFill>
                  <a:srgbClr val="B8923A"/>
                </a:solidFill>
                <a:latin typeface="Calibri"/>
              </a:rPr>
              <a:t>data srv C</a:t>
            </a:r>
          </a:p>
        </p:txBody>
      </p:sp>
      <p:sp>
        <p:nvSpPr>
          <p:cNvPr id="31" name="TextBox 30"/>
          <p:cNvSpPr txBox="1"/>
          <p:nvPr/>
        </p:nvSpPr>
        <p:spPr>
          <a:xfrm>
            <a:off x="4224528" y="5980175"/>
            <a:ext cx="1563624" cy="283464"/>
          </a:xfrm>
          <a:prstGeom prst="rect">
            <a:avLst/>
          </a:prstGeom>
          <a:noFill/>
        </p:spPr>
        <p:txBody>
          <a:bodyPr wrap="square">
            <a:spAutoFit/>
          </a:bodyPr>
          <a:lstStyle/>
          <a:p>
            <a:pPr>
              <a:spcAft>
                <a:spcPts val="400"/>
              </a:spcAft>
            </a:pPr>
            <a:r>
              <a:rPr sz="1300" b="0" i="0">
                <a:solidFill>
                  <a:srgbClr val="F7F4EF"/>
                </a:solidFill>
                <a:latin typeface="Calibri"/>
              </a:rPr>
              <a:t>• new socket /c</a:t>
            </a:r>
          </a:p>
        </p:txBody>
      </p:sp>
      <p:sp>
        <p:nvSpPr>
          <p:cNvPr id="32" name="TextBox 31"/>
          <p:cNvSpPr txBox="1"/>
          <p:nvPr/>
        </p:nvSpPr>
        <p:spPr>
          <a:xfrm>
            <a:off x="6263640" y="1965960"/>
            <a:ext cx="5669280" cy="237744"/>
          </a:xfrm>
          <a:prstGeom prst="rect">
            <a:avLst/>
          </a:prstGeom>
          <a:noFill/>
        </p:spPr>
        <p:txBody>
          <a:bodyPr wrap="square">
            <a:spAutoFit/>
          </a:bodyPr>
          <a:lstStyle/>
          <a:p>
            <a:pPr algn="l"/>
            <a:r>
              <a:rPr sz="1200" b="1" i="0">
                <a:solidFill>
                  <a:srgbClr val="B8923A"/>
                </a:solidFill>
                <a:latin typeface="Calibri"/>
              </a:rPr>
              <a:t>TARGET - PARALLEL BRIDGE ON THE SAME SOCKET</a:t>
            </a:r>
          </a:p>
        </p:txBody>
      </p:sp>
      <p:sp>
        <p:nvSpPr>
          <p:cNvPr id="33" name="Rounded Rectangle 32"/>
          <p:cNvSpPr/>
          <p:nvPr/>
        </p:nvSpPr>
        <p:spPr>
          <a:xfrm>
            <a:off x="6675120" y="2212848"/>
            <a:ext cx="4846320" cy="804672"/>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84848" y="2304288"/>
            <a:ext cx="4626864" cy="292608"/>
          </a:xfrm>
          <a:prstGeom prst="rect">
            <a:avLst/>
          </a:prstGeom>
          <a:noFill/>
        </p:spPr>
        <p:txBody>
          <a:bodyPr wrap="square">
            <a:spAutoFit/>
          </a:bodyPr>
          <a:lstStyle/>
          <a:p>
            <a:pPr algn="l"/>
            <a:r>
              <a:rPr sz="1500" b="1" i="0">
                <a:solidFill>
                  <a:srgbClr val="B8923A"/>
                </a:solidFill>
                <a:latin typeface="Calibri"/>
              </a:rPr>
              <a:t>HTTP/2 client</a:t>
            </a:r>
          </a:p>
        </p:txBody>
      </p:sp>
      <p:sp>
        <p:nvSpPr>
          <p:cNvPr id="35" name="TextBox 34"/>
          <p:cNvSpPr txBox="1"/>
          <p:nvPr/>
        </p:nvSpPr>
        <p:spPr>
          <a:xfrm>
            <a:off x="6784848" y="2615184"/>
            <a:ext cx="4626864" cy="310896"/>
          </a:xfrm>
          <a:prstGeom prst="rect">
            <a:avLst/>
          </a:prstGeom>
          <a:noFill/>
        </p:spPr>
        <p:txBody>
          <a:bodyPr wrap="square">
            <a:spAutoFit/>
          </a:bodyPr>
          <a:lstStyle/>
          <a:p>
            <a:pPr>
              <a:spcAft>
                <a:spcPts val="400"/>
              </a:spcAft>
            </a:pPr>
            <a:r>
              <a:rPr sz="1300" b="0" i="0">
                <a:solidFill>
                  <a:srgbClr val="F7F4EF"/>
                </a:solidFill>
                <a:latin typeface="Calibri"/>
              </a:rPr>
              <a:t>• streams 1, 3, 5</a:t>
            </a:r>
          </a:p>
        </p:txBody>
      </p:sp>
      <p:sp>
        <p:nvSpPr>
          <p:cNvPr id="36" name="Rounded Rectangle 35"/>
          <p:cNvSpPr/>
          <p:nvPr/>
        </p:nvSpPr>
        <p:spPr>
          <a:xfrm>
            <a:off x="6675120" y="3054096"/>
            <a:ext cx="4846320" cy="804672"/>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84848" y="3145536"/>
            <a:ext cx="4626864" cy="292608"/>
          </a:xfrm>
          <a:prstGeom prst="rect">
            <a:avLst/>
          </a:prstGeom>
          <a:noFill/>
        </p:spPr>
        <p:txBody>
          <a:bodyPr wrap="square">
            <a:spAutoFit/>
          </a:bodyPr>
          <a:lstStyle/>
          <a:p>
            <a:pPr algn="l"/>
            <a:r>
              <a:rPr sz="1500" b="1" i="0">
                <a:solidFill>
                  <a:srgbClr val="B8923A"/>
                </a:solidFill>
                <a:latin typeface="Calibri"/>
              </a:rPr>
              <a:t>1 TLS socket</a:t>
            </a:r>
          </a:p>
        </p:txBody>
      </p:sp>
      <p:sp>
        <p:nvSpPr>
          <p:cNvPr id="38" name="TextBox 37"/>
          <p:cNvSpPr txBox="1"/>
          <p:nvPr/>
        </p:nvSpPr>
        <p:spPr>
          <a:xfrm>
            <a:off x="6784848" y="3456432"/>
            <a:ext cx="4626864" cy="310896"/>
          </a:xfrm>
          <a:prstGeom prst="rect">
            <a:avLst/>
          </a:prstGeom>
          <a:noFill/>
        </p:spPr>
        <p:txBody>
          <a:bodyPr wrap="square">
            <a:spAutoFit/>
          </a:bodyPr>
          <a:lstStyle/>
          <a:p>
            <a:pPr>
              <a:spcAft>
                <a:spcPts val="400"/>
              </a:spcAft>
            </a:pPr>
            <a:r>
              <a:rPr sz="1300" b="0" i="0">
                <a:solidFill>
                  <a:srgbClr val="F7F4EF"/>
                </a:solidFill>
                <a:latin typeface="Calibri"/>
              </a:rPr>
              <a:t>• same as today</a:t>
            </a:r>
          </a:p>
        </p:txBody>
      </p:sp>
      <p:sp>
        <p:nvSpPr>
          <p:cNvPr id="39" name="Rounded Rectangle 38"/>
          <p:cNvSpPr/>
          <p:nvPr/>
        </p:nvSpPr>
        <p:spPr>
          <a:xfrm>
            <a:off x="6675120" y="3895344"/>
            <a:ext cx="4846320" cy="804672"/>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84848" y="3986783"/>
            <a:ext cx="4626864" cy="292608"/>
          </a:xfrm>
          <a:prstGeom prst="rect">
            <a:avLst/>
          </a:prstGeom>
          <a:noFill/>
        </p:spPr>
        <p:txBody>
          <a:bodyPr wrap="square">
            <a:spAutoFit/>
          </a:bodyPr>
          <a:lstStyle/>
          <a:p>
            <a:pPr algn="l"/>
            <a:r>
              <a:rPr sz="1500" b="1" i="0">
                <a:solidFill>
                  <a:srgbClr val="B8923A"/>
                </a:solidFill>
                <a:latin typeface="Calibri"/>
              </a:rPr>
              <a:t>nghttp2</a:t>
            </a:r>
          </a:p>
        </p:txBody>
      </p:sp>
      <p:sp>
        <p:nvSpPr>
          <p:cNvPr id="41" name="TextBox 40"/>
          <p:cNvSpPr txBox="1"/>
          <p:nvPr/>
        </p:nvSpPr>
        <p:spPr>
          <a:xfrm>
            <a:off x="6784848" y="4297679"/>
            <a:ext cx="4626864" cy="310896"/>
          </a:xfrm>
          <a:prstGeom prst="rect">
            <a:avLst/>
          </a:prstGeom>
          <a:noFill/>
        </p:spPr>
        <p:txBody>
          <a:bodyPr wrap="square">
            <a:spAutoFit/>
          </a:bodyPr>
          <a:lstStyle/>
          <a:p>
            <a:pPr>
              <a:spcAft>
                <a:spcPts val="400"/>
              </a:spcAft>
            </a:pPr>
            <a:r>
              <a:rPr sz="1300" b="0" i="0">
                <a:solidFill>
                  <a:srgbClr val="F7F4EF"/>
                </a:solidFill>
                <a:latin typeface="Calibri"/>
              </a:rPr>
              <a:t>• three live streams</a:t>
            </a:r>
          </a:p>
        </p:txBody>
      </p:sp>
      <p:sp>
        <p:nvSpPr>
          <p:cNvPr id="42" name="Rounded Rectangle 41"/>
          <p:cNvSpPr/>
          <p:nvPr/>
        </p:nvSpPr>
        <p:spPr>
          <a:xfrm>
            <a:off x="6263640" y="4736592"/>
            <a:ext cx="5532120" cy="96012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73368" y="4828031"/>
            <a:ext cx="5312664" cy="292608"/>
          </a:xfrm>
          <a:prstGeom prst="rect">
            <a:avLst/>
          </a:prstGeom>
          <a:noFill/>
        </p:spPr>
        <p:txBody>
          <a:bodyPr wrap="square">
            <a:spAutoFit/>
          </a:bodyPr>
          <a:lstStyle/>
          <a:p>
            <a:pPr algn="l"/>
            <a:r>
              <a:rPr sz="1500" b="1" i="0">
                <a:solidFill>
                  <a:srgbClr val="B8923A"/>
                </a:solidFill>
                <a:latin typeface="Calibri"/>
              </a:rPr>
              <a:t>Bridge - three Run() in flight</a:t>
            </a:r>
          </a:p>
        </p:txBody>
      </p:sp>
      <p:sp>
        <p:nvSpPr>
          <p:cNvPr id="44" name="TextBox 43"/>
          <p:cNvSpPr txBox="1"/>
          <p:nvPr/>
        </p:nvSpPr>
        <p:spPr>
          <a:xfrm>
            <a:off x="6373368" y="5138927"/>
            <a:ext cx="5312664" cy="466344"/>
          </a:xfrm>
          <a:prstGeom prst="rect">
            <a:avLst/>
          </a:prstGeom>
          <a:noFill/>
        </p:spPr>
        <p:txBody>
          <a:bodyPr wrap="square">
            <a:spAutoFit/>
          </a:bodyPr>
          <a:lstStyle/>
          <a:p>
            <a:pPr>
              <a:spcAft>
                <a:spcPts val="400"/>
              </a:spcAft>
            </a:pPr>
            <a:r>
              <a:rPr sz="1300" b="0" i="0">
                <a:solidFill>
                  <a:srgbClr val="F7F4EF"/>
                </a:solidFill>
                <a:latin typeface="Calibri"/>
              </a:rPr>
              <a:t>• Run a s1    Run b s3    Run c s5</a:t>
            </a:r>
          </a:p>
        </p:txBody>
      </p:sp>
      <p:sp>
        <p:nvSpPr>
          <p:cNvPr id="45" name="Rounded Rectangle 44"/>
          <p:cNvSpPr/>
          <p:nvPr/>
        </p:nvSpPr>
        <p:spPr>
          <a:xfrm>
            <a:off x="6675120" y="5742432"/>
            <a:ext cx="4846320" cy="658368"/>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84848" y="5833872"/>
            <a:ext cx="4626864" cy="292608"/>
          </a:xfrm>
          <a:prstGeom prst="rect">
            <a:avLst/>
          </a:prstGeom>
          <a:noFill/>
        </p:spPr>
        <p:txBody>
          <a:bodyPr wrap="square">
            <a:spAutoFit/>
          </a:bodyPr>
          <a:lstStyle/>
          <a:p>
            <a:pPr algn="l"/>
            <a:r>
              <a:rPr sz="1500" b="1" i="0">
                <a:solidFill>
                  <a:srgbClr val="B8923A"/>
                </a:solidFill>
                <a:latin typeface="Calibri"/>
              </a:rPr>
              <a:t>ofs - three files at once</a:t>
            </a:r>
          </a:p>
        </p:txBody>
      </p:sp>
      <p:sp>
        <p:nvSpPr>
          <p:cNvPr id="47" name="TextBox 46"/>
          <p:cNvSpPr txBox="1"/>
          <p:nvPr/>
        </p:nvSpPr>
        <p:spPr>
          <a:xfrm>
            <a:off x="6784848" y="6144768"/>
            <a:ext cx="4626864" cy="164592"/>
          </a:xfrm>
          <a:prstGeom prst="rect">
            <a:avLst/>
          </a:prstGeom>
          <a:noFill/>
        </p:spPr>
        <p:txBody>
          <a:bodyPr wrap="square">
            <a:spAutoFit/>
          </a:bodyPr>
          <a:lstStyle/>
          <a:p>
            <a:pPr>
              <a:spcAft>
                <a:spcPts val="400"/>
              </a:spcAft>
            </a:pPr>
            <a:r>
              <a:rPr sz="1300" b="0" i="0">
                <a:solidFill>
                  <a:srgbClr val="F7F4EF"/>
                </a:solidFill>
                <a:latin typeface="Calibri"/>
              </a:rPr>
              <a:t>• DATA interleaved on the original socket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10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LIMITS · BRIDGE</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What has to change for parallel Runs</a:t>
            </a:r>
          </a:p>
        </p:txBody>
      </p:sp>
      <p:sp>
        <p:nvSpPr>
          <p:cNvPr id="9" name="TextBox 8"/>
          <p:cNvSpPr txBox="1"/>
          <p:nvPr/>
        </p:nvSpPr>
        <p:spPr>
          <a:xfrm>
            <a:off x="502920" y="1691640"/>
            <a:ext cx="11155680" cy="640080"/>
          </a:xfrm>
          <a:prstGeom prst="rect">
            <a:avLst/>
          </a:prstGeom>
          <a:noFill/>
        </p:spPr>
        <p:txBody>
          <a:bodyPr wrap="square">
            <a:spAutoFit/>
          </a:bodyPr>
          <a:lstStyle/>
          <a:p>
            <a:pPr algn="l"/>
            <a:r>
              <a:rPr sz="1600" b="0" i="0">
                <a:solidFill>
                  <a:srgbClr val="C9BFB6"/>
                </a:solidFill>
                <a:latin typeface="Calibri"/>
              </a:rPr>
              <a:t>Native root:// already carries a stream id in the 24-byte header. The HTTP Bridge copies that field, then refuses a second Run() on the same link. Login stays once per connection.</a:t>
            </a:r>
          </a:p>
        </p:txBody>
      </p:sp>
      <p:graphicFrame>
        <p:nvGraphicFramePr>
          <p:cNvPr id="10" name="Table 9"/>
          <p:cNvGraphicFramePr>
            <a:graphicFrameLocks noGrp="1"/>
          </p:cNvGraphicFramePr>
          <p:nvPr/>
        </p:nvGraphicFramePr>
        <p:xfrm>
          <a:off x="365760" y="2331720"/>
          <a:ext cx="11430000" cy="3520440"/>
        </p:xfrm>
        <a:graphic>
          <a:graphicData uri="http://schemas.openxmlformats.org/drawingml/2006/table">
            <a:tbl>
              <a:tblPr firstRow="1" bandRow="1">
                <a:tableStyleId>{5C22544A-7EE6-4342-B048-85BDC9FD1C3A}</a:tableStyleId>
              </a:tblPr>
              <a:tblGrid>
                <a:gridCol w="5029200"/>
                <a:gridCol w="6400800"/>
              </a:tblGrid>
              <a:tr h="502920">
                <a:tc>
                  <a:txBody>
                    <a:bodyPr wrap="square"/>
                    <a:lstStyle/>
                    <a:p>
                      <a:pPr algn="l"/>
                      <a:r>
                        <a:rPr sz="1100" b="1" i="0">
                          <a:solidFill>
                            <a:srgbClr val="B8923A"/>
                          </a:solidFill>
                          <a:latin typeface="Calibri"/>
                        </a:rPr>
                        <a:t>Today, per HTTP connection</a:t>
                      </a:r>
                    </a:p>
                  </a:txBody>
                  <a:tcPr>
                    <a:solidFill>
                      <a:srgbClr val="1E1810"/>
                    </a:solidFill>
                  </a:tcPr>
                </a:tc>
                <a:tc>
                  <a:txBody>
                    <a:bodyPr wrap="square"/>
                    <a:lstStyle/>
                    <a:p>
                      <a:pPr algn="l"/>
                      <a:r>
                        <a:rPr sz="1100" b="1" i="0">
                          <a:solidFill>
                            <a:srgbClr val="B8923A"/>
                          </a:solidFill>
                          <a:latin typeface="Calibri"/>
                        </a:rPr>
                        <a:t>Needed</a:t>
                      </a:r>
                    </a:p>
                  </a:txBody>
                  <a:tcPr>
                    <a:solidFill>
                      <a:srgbClr val="1E1810"/>
                    </a:solidFill>
                  </a:tcPr>
                </a:tc>
              </a:tr>
              <a:tr h="502920">
                <a:tc>
                  <a:txBody>
                    <a:bodyPr wrap="square"/>
                    <a:lstStyle/>
                    <a:p>
                      <a:pPr algn="l"/>
                      <a:r>
                        <a:rPr sz="1200" b="0" i="0">
                          <a:solidFill>
                            <a:srgbClr val="F7F4EF"/>
                          </a:solidFill>
                          <a:latin typeface="Calibri"/>
                        </a:rPr>
                        <a:t>One CurrentReq / XrdHttpReq</a:t>
                      </a:r>
                    </a:p>
                  </a:txBody>
                  <a:tcPr>
                    <a:solidFill>
                      <a:srgbClr val="161416"/>
                    </a:solidFill>
                  </a:tcPr>
                </a:tc>
                <a:tc>
                  <a:txBody>
                    <a:bodyPr wrap="square"/>
                    <a:lstStyle/>
                    <a:p>
                      <a:pPr algn="l"/>
                      <a:r>
                        <a:rPr sz="1200" b="0" i="0">
                          <a:solidFill>
                            <a:srgbClr val="F7F4EF"/>
                          </a:solidFill>
                          <a:latin typeface="Calibri"/>
                        </a:rPr>
                        <a:t>One request object per HTTP/2 stream (map from nghttp2 id)</a:t>
                      </a:r>
                    </a:p>
                  </a:txBody>
                  <a:tcPr>
                    <a:solidFill>
                      <a:srgbClr val="161416"/>
                    </a:solidFill>
                  </a:tcPr>
                </a:tc>
              </a:tr>
              <a:tr h="502920">
                <a:tc>
                  <a:txBody>
                    <a:bodyPr wrap="square"/>
                    <a:lstStyle/>
                    <a:p>
                      <a:pPr algn="l"/>
                      <a:r>
                        <a:rPr sz="1200" b="0" i="0">
                          <a:solidFill>
                            <a:srgbClr val="F7F4EF"/>
                          </a:solidFill>
                          <a:latin typeface="Calibri"/>
                        </a:rPr>
                        <a:t>Transit::Run() fails if runStatus != 0</a:t>
                      </a:r>
                    </a:p>
                  </a:txBody>
                  <a:tcPr>
                    <a:solidFill>
                      <a:srgbClr val="161416"/>
                    </a:solidFill>
                  </a:tcPr>
                </a:tc>
                <a:tc>
                  <a:txBody>
                    <a:bodyPr wrap="square"/>
                    <a:lstStyle/>
                    <a:p>
                      <a:pPr algn="l"/>
                      <a:r>
                        <a:rPr sz="1200" b="0" i="0">
                          <a:solidFill>
                            <a:srgbClr val="F7F4EF"/>
                          </a:solidFill>
                          <a:latin typeface="Calibri"/>
                        </a:rPr>
                        <a:t>N in-flight Runs, keyed by xroot stream id, each with its own header buffer</a:t>
                      </a:r>
                    </a:p>
                  </a:txBody>
                  <a:tcPr>
                    <a:solidFill>
                      <a:srgbClr val="161416"/>
                    </a:solidFill>
                  </a:tcPr>
                </a:tc>
              </a:tr>
              <a:tr h="502920">
                <a:tc>
                  <a:txBody>
                    <a:bodyPr wrap="square"/>
                    <a:lstStyle/>
                    <a:p>
                      <a:pPr algn="l"/>
                      <a:r>
                        <a:rPr sz="1200" b="0" i="0">
                          <a:solidFill>
                            <a:srgbClr val="F7F4EF"/>
                          </a:solidFill>
                          <a:latin typeface="Calibri"/>
                        </a:rPr>
                        <a:t>One Result callback (XrdHttpReq)</a:t>
                      </a:r>
                    </a:p>
                  </a:txBody>
                  <a:tcPr>
                    <a:solidFill>
                      <a:srgbClr val="161416"/>
                    </a:solidFill>
                  </a:tcPr>
                </a:tc>
                <a:tc>
                  <a:txBody>
                    <a:bodyPr wrap="square"/>
                    <a:lstStyle/>
                    <a:p>
                      <a:pPr algn="l"/>
                      <a:r>
                        <a:rPr sz="1200" b="0" i="0">
                          <a:solidFill>
                            <a:srgbClr val="F7F4EF"/>
                          </a:solidFill>
                          <a:latin typeface="Calibri"/>
                        </a:rPr>
                        <a:t>Done / Data / Error / Redir demuxed to that stream's writer</a:t>
                      </a:r>
                    </a:p>
                  </a:txBody>
                  <a:tcPr>
                    <a:solidFill>
                      <a:srgbClr val="161416"/>
                    </a:solidFill>
                  </a:tcPr>
                </a:tc>
              </a:tr>
              <a:tr h="502920">
                <a:tc>
                  <a:txBody>
                    <a:bodyPr wrap="square"/>
                    <a:lstStyle/>
                    <a:p>
                      <a:pPr algn="l"/>
                      <a:r>
                        <a:rPr sz="1200" b="0" i="0">
                          <a:solidFill>
                            <a:srgbClr val="F7F4EF"/>
                          </a:solidFill>
                          <a:latin typeface="Calibri"/>
                        </a:rPr>
                        <a:t>dispatchNext() waits for appInFlight</a:t>
                      </a:r>
                    </a:p>
                  </a:txBody>
                  <a:tcPr>
                    <a:solidFill>
                      <a:srgbClr val="161416"/>
                    </a:solidFill>
                  </a:tcPr>
                </a:tc>
                <a:tc>
                  <a:txBody>
                    <a:bodyPr wrap="square"/>
                    <a:lstStyle/>
                    <a:p>
                      <a:pPr algn="l"/>
                      <a:r>
                        <a:rPr sz="1200" b="0" i="0">
                          <a:solidFill>
                            <a:srgbClr val="F7F4EF"/>
                          </a:solidFill>
                          <a:latin typeface="Calibri"/>
                        </a:rPr>
                        <a:t>Start the next stream up to a cap (e.g. 8 or 16 in-flight)</a:t>
                      </a:r>
                    </a:p>
                  </a:txBody>
                  <a:tcPr>
                    <a:solidFill>
                      <a:srgbClr val="161416"/>
                    </a:solidFill>
                  </a:tcPr>
                </a:tc>
              </a:tr>
              <a:tr h="502920">
                <a:tc>
                  <a:txBody>
                    <a:bodyPr wrap="square"/>
                    <a:lstStyle/>
                    <a:p>
                      <a:pPr algn="l"/>
                      <a:r>
                        <a:rPr sz="1200" b="0" i="0">
                          <a:solidFill>
                            <a:srgbClr val="F7F4EF"/>
                          </a:solidFill>
                          <a:latin typeface="Calibri"/>
                        </a:rPr>
                        <a:t>Process() 0 / 1 / close is the whole link</a:t>
                      </a:r>
                    </a:p>
                  </a:txBody>
                  <a:tcPr>
                    <a:solidFill>
                      <a:srgbClr val="161416"/>
                    </a:solidFill>
                  </a:tcPr>
                </a:tc>
                <a:tc>
                  <a:txBody>
                    <a:bodyPr wrap="square"/>
                    <a:lstStyle/>
                    <a:p>
                      <a:pPr algn="l"/>
                      <a:r>
                        <a:rPr sz="1200" b="0" i="0">
                          <a:solidFill>
                            <a:srgbClr val="F7F4EF"/>
                          </a:solidFill>
                          <a:latin typeface="Calibri"/>
                        </a:rPr>
                        <a:t>A wait on stream 3 must not stop streams 1 and 5</a:t>
                      </a:r>
                    </a:p>
                  </a:txBody>
                  <a:tcPr>
                    <a:solidFill>
                      <a:srgbClr val="161416"/>
                    </a:solidFill>
                  </a:tcPr>
                </a:tc>
              </a:tr>
              <a:tr h="502920">
                <a:tc>
                  <a:txBody>
                    <a:bodyPr wrap="square"/>
                    <a:lstStyle/>
                    <a:p>
                      <a:pPr algn="l"/>
                      <a:r>
                        <a:rPr sz="1200" b="0" i="0">
                          <a:solidFill>
                            <a:srgbClr val="F7F4EF"/>
                          </a:solidFill>
                          <a:latin typeface="Calibri"/>
                        </a:rPr>
                        <a:t>File table and SecEntity are per link</a:t>
                      </a:r>
                    </a:p>
                  </a:txBody>
                  <a:tcPr>
                    <a:solidFill>
                      <a:srgbClr val="161416"/>
                    </a:solidFill>
                  </a:tcPr>
                </a:tc>
                <a:tc>
                  <a:txBody>
                    <a:bodyPr wrap="square"/>
                    <a:lstStyle/>
                    <a:p>
                      <a:pPr algn="l"/>
                      <a:r>
                        <a:rPr sz="1200" b="0" i="0">
                          <a:solidFill>
                            <a:srgbClr val="F7F4EF"/>
                          </a:solidFill>
                          <a:latin typeface="Calibri"/>
                        </a:rPr>
                        <a:t>Keep that. Concurrent opens of different files; one identity</a:t>
                      </a:r>
                    </a:p>
                  </a:txBody>
                  <a:tcPr>
                    <a:solidFill>
                      <a:srgbClr val="161416"/>
                    </a:solidFill>
                  </a:tcPr>
                </a:tc>
              </a:tr>
            </a:tbl>
          </a:graphicData>
        </a:graphic>
      </p:graphicFrame>
      <p:sp>
        <p:nvSpPr>
          <p:cNvPr id="11" name="TextBox 10"/>
          <p:cNvSpPr txBox="1"/>
          <p:nvPr/>
        </p:nvSpPr>
        <p:spPr>
          <a:xfrm>
            <a:off x="457200" y="5897880"/>
            <a:ext cx="11247120" cy="502920"/>
          </a:xfrm>
          <a:prstGeom prst="rect">
            <a:avLst/>
          </a:prstGeom>
          <a:noFill/>
        </p:spPr>
        <p:txBody>
          <a:bodyPr wrap="square">
            <a:spAutoFit/>
          </a:bodyPr>
          <a:lstStyle/>
          <a:p>
            <a:pPr algn="l"/>
            <a:r>
              <a:rPr sz="1200" b="0" i="0">
                <a:solidFill>
                  <a:srgbClr val="C9BFB6"/>
                </a:solidFill>
                <a:latin typeface="Calibri"/>
              </a:rPr>
              <a:t>Not a thread per stream. Parallelism is several outstanding Bridge operations, the way a native client uses several stream ids. Redirect fan-out already gives cross-node parallelism without this 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11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ARCHITECTURE</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HTTP/1.1 and HTTP/2 share one request handler</a:t>
            </a:r>
          </a:p>
        </p:txBody>
      </p:sp>
      <p:sp>
        <p:nvSpPr>
          <p:cNvPr id="9" name="TextBox 8"/>
          <p:cNvSpPr txBox="1"/>
          <p:nvPr/>
        </p:nvSpPr>
        <p:spPr>
          <a:xfrm>
            <a:off x="502920" y="1737360"/>
            <a:ext cx="11155680" cy="1051560"/>
          </a:xfrm>
          <a:prstGeom prst="rect">
            <a:avLst/>
          </a:prstGeom>
          <a:noFill/>
        </p:spPr>
        <p:txBody>
          <a:bodyPr wrap="square">
            <a:spAutoFit/>
          </a:bodyPr>
          <a:lstStyle/>
          <a:p>
            <a:pPr algn="l"/>
            <a:r>
              <a:rPr sz="1600" b="0" i="0">
                <a:solidFill>
                  <a:srgbClr val="C9BFB6"/>
                </a:solidFill>
                <a:latin typeface="Calibri"/>
              </a:rPr>
              <a:t>HTTP/1 request handling is the same as on master: after headers are parsed, the request still goes through XrdHttpReq and the Bridge. GET, PUT, HEAD, DELETE, WebDAV, TPC, checksums, and request bodies are that same code. Only header parsing is new (llhttp). HTTP/2 uses the same handler after nghttp2 assembles the headers.</a:t>
            </a:r>
          </a:p>
        </p:txBody>
      </p:sp>
      <p:sp>
        <p:nvSpPr>
          <p:cNvPr id="10" name="Rounded Rectangle 9"/>
          <p:cNvSpPr/>
          <p:nvPr/>
        </p:nvSpPr>
        <p:spPr>
          <a:xfrm>
            <a:off x="502920" y="2926080"/>
            <a:ext cx="5486400" cy="15544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3017520"/>
            <a:ext cx="5266944" cy="292608"/>
          </a:xfrm>
          <a:prstGeom prst="rect">
            <a:avLst/>
          </a:prstGeom>
          <a:noFill/>
        </p:spPr>
        <p:txBody>
          <a:bodyPr wrap="square">
            <a:spAutoFit/>
          </a:bodyPr>
          <a:lstStyle/>
          <a:p>
            <a:pPr algn="l"/>
            <a:r>
              <a:rPr sz="1500" b="1" i="0">
                <a:solidFill>
                  <a:srgbClr val="B8923A"/>
                </a:solidFill>
                <a:latin typeface="Calibri"/>
              </a:rPr>
              <a:t>HTTP/1.1</a:t>
            </a:r>
          </a:p>
        </p:txBody>
      </p:sp>
      <p:sp>
        <p:nvSpPr>
          <p:cNvPr id="12" name="TextBox 11"/>
          <p:cNvSpPr txBox="1"/>
          <p:nvPr/>
        </p:nvSpPr>
        <p:spPr>
          <a:xfrm>
            <a:off x="612648" y="3328416"/>
            <a:ext cx="5266944" cy="1060704"/>
          </a:xfrm>
          <a:prstGeom prst="rect">
            <a:avLst/>
          </a:prstGeom>
          <a:noFill/>
        </p:spPr>
        <p:txBody>
          <a:bodyPr wrap="square">
            <a:spAutoFit/>
          </a:bodyPr>
          <a:lstStyle/>
          <a:p>
            <a:pPr>
              <a:spcAft>
                <a:spcPts val="400"/>
              </a:spcAft>
            </a:pPr>
            <a:r>
              <a:rPr sz="1300" b="0" i="0">
                <a:solidFill>
                  <a:srgbClr val="F7F4EF"/>
                </a:solidFill>
                <a:latin typeface="Calibri"/>
              </a:rPr>
              <a:t>• XrdHttp1Session (llhttp)</a:t>
            </a:r>
          </a:p>
          <a:p>
            <a:pPr>
              <a:spcAft>
                <a:spcPts val="400"/>
              </a:spcAft>
            </a:pPr>
            <a:r>
              <a:rPr sz="1300" b="0" i="0">
                <a:solidFill>
                  <a:srgbClr val="F7F4EF"/>
                </a:solidFill>
                <a:latin typeface="Calibri"/>
              </a:rPr>
              <a:t>• XrdHttp1ResponseWriter</a:t>
            </a:r>
          </a:p>
        </p:txBody>
      </p:sp>
      <p:sp>
        <p:nvSpPr>
          <p:cNvPr id="13" name="Rounded Rectangle 12"/>
          <p:cNvSpPr/>
          <p:nvPr/>
        </p:nvSpPr>
        <p:spPr>
          <a:xfrm>
            <a:off x="6217920" y="2926080"/>
            <a:ext cx="5486400" cy="15544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3017520"/>
            <a:ext cx="5266944" cy="292608"/>
          </a:xfrm>
          <a:prstGeom prst="rect">
            <a:avLst/>
          </a:prstGeom>
          <a:noFill/>
        </p:spPr>
        <p:txBody>
          <a:bodyPr wrap="square">
            <a:spAutoFit/>
          </a:bodyPr>
          <a:lstStyle/>
          <a:p>
            <a:pPr algn="l"/>
            <a:r>
              <a:rPr sz="1500" b="1" i="0">
                <a:solidFill>
                  <a:srgbClr val="B8923A"/>
                </a:solidFill>
                <a:latin typeface="Calibri"/>
              </a:rPr>
              <a:t>HTTP/2</a:t>
            </a:r>
          </a:p>
        </p:txBody>
      </p:sp>
      <p:sp>
        <p:nvSpPr>
          <p:cNvPr id="15" name="TextBox 14"/>
          <p:cNvSpPr txBox="1"/>
          <p:nvPr/>
        </p:nvSpPr>
        <p:spPr>
          <a:xfrm>
            <a:off x="6327648" y="3328416"/>
            <a:ext cx="5266944" cy="1060704"/>
          </a:xfrm>
          <a:prstGeom prst="rect">
            <a:avLst/>
          </a:prstGeom>
          <a:noFill/>
        </p:spPr>
        <p:txBody>
          <a:bodyPr wrap="square">
            <a:spAutoFit/>
          </a:bodyPr>
          <a:lstStyle/>
          <a:p>
            <a:pPr>
              <a:spcAft>
                <a:spcPts val="400"/>
              </a:spcAft>
            </a:pPr>
            <a:r>
              <a:rPr sz="1300" b="0" i="0">
                <a:solidFill>
                  <a:srgbClr val="F7F4EF"/>
                </a:solidFill>
                <a:latin typeface="Calibri"/>
              </a:rPr>
              <a:t>• XrdHttp2Session (nghttp2)</a:t>
            </a:r>
          </a:p>
          <a:p>
            <a:pPr>
              <a:spcAft>
                <a:spcPts val="400"/>
              </a:spcAft>
            </a:pPr>
            <a:r>
              <a:rPr sz="1300" b="0" i="0">
                <a:solidFill>
                  <a:srgbClr val="F7F4EF"/>
                </a:solidFill>
                <a:latin typeface="Calibri"/>
              </a:rPr>
              <a:t>• XrdHttp2ResponseWriter</a:t>
            </a:r>
          </a:p>
        </p:txBody>
      </p:sp>
      <p:sp>
        <p:nvSpPr>
          <p:cNvPr id="16" name="Rounded Rectangle 15"/>
          <p:cNvSpPr/>
          <p:nvPr/>
        </p:nvSpPr>
        <p:spPr>
          <a:xfrm>
            <a:off x="2011680" y="4663440"/>
            <a:ext cx="8138160" cy="137160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21408" y="4754879"/>
            <a:ext cx="7918704" cy="292608"/>
          </a:xfrm>
          <a:prstGeom prst="rect">
            <a:avLst/>
          </a:prstGeom>
          <a:noFill/>
        </p:spPr>
        <p:txBody>
          <a:bodyPr wrap="square">
            <a:spAutoFit/>
          </a:bodyPr>
          <a:lstStyle/>
          <a:p>
            <a:pPr algn="l"/>
            <a:r>
              <a:rPr sz="1500" b="1" i="0">
                <a:solidFill>
                  <a:srgbClr val="B8923A"/>
                </a:solidFill>
                <a:latin typeface="Calibri"/>
              </a:rPr>
              <a:t>processParsedRequest() → XrdHttpReq → Bridge → ofs</a:t>
            </a:r>
          </a:p>
        </p:txBody>
      </p:sp>
      <p:sp>
        <p:nvSpPr>
          <p:cNvPr id="18" name="TextBox 17"/>
          <p:cNvSpPr txBox="1"/>
          <p:nvPr/>
        </p:nvSpPr>
        <p:spPr>
          <a:xfrm>
            <a:off x="2121408" y="5065775"/>
            <a:ext cx="7918704" cy="877824"/>
          </a:xfrm>
          <a:prstGeom prst="rect">
            <a:avLst/>
          </a:prstGeom>
          <a:noFill/>
        </p:spPr>
        <p:txBody>
          <a:bodyPr wrap="square">
            <a:spAutoFit/>
          </a:bodyPr>
          <a:lstStyle/>
          <a:p>
            <a:pPr>
              <a:spcAft>
                <a:spcPts val="400"/>
              </a:spcAft>
            </a:pPr>
            <a:r>
              <a:rPr sz="1300" b="0" i="0">
                <a:solidFill>
                  <a:srgbClr val="F7F4EF"/>
                </a:solidFill>
                <a:latin typeface="Calibri"/>
              </a:rPr>
              <a:t>• Kerberos · tokens · GSI · TPC · checksums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12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VERSUS MASTER</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HTTP/1 is the same request path as master</a:t>
            </a:r>
          </a:p>
        </p:txBody>
      </p:sp>
      <p:sp>
        <p:nvSpPr>
          <p:cNvPr id="9" name="TextBox 8"/>
          <p:cNvSpPr txBox="1"/>
          <p:nvPr/>
        </p:nvSpPr>
        <p:spPr>
          <a:xfrm>
            <a:off x="502920" y="1737360"/>
            <a:ext cx="11155680" cy="868680"/>
          </a:xfrm>
          <a:prstGeom prst="rect">
            <a:avLst/>
          </a:prstGeom>
          <a:noFill/>
        </p:spPr>
        <p:txBody>
          <a:bodyPr wrap="square">
            <a:spAutoFit/>
          </a:bodyPr>
          <a:lstStyle/>
          <a:p>
            <a:pPr algn="l"/>
            <a:r>
              <a:rPr sz="1600" b="0" i="0">
                <a:solidFill>
                  <a:srgbClr val="C9BFB6"/>
                </a:solidFill>
                <a:latin typeface="Calibri"/>
              </a:rPr>
              <a:t>An HTTP/1.1 client still talks to the same XrdHttpReq and Bridge as on master. We did not rewrite GET/PUT/HEAD/DELETE or how bodies are read. What changed for HTTP/1 is only how request headers are parsed (llhttp). Set http.parser legacy to use master’s line parser.</a:t>
            </a:r>
          </a:p>
        </p:txBody>
      </p:sp>
      <p:graphicFrame>
        <p:nvGraphicFramePr>
          <p:cNvPr id="10" name="Table 9"/>
          <p:cNvGraphicFramePr>
            <a:graphicFrameLocks noGrp="1"/>
          </p:cNvGraphicFramePr>
          <p:nvPr/>
        </p:nvGraphicFramePr>
        <p:xfrm>
          <a:off x="411480" y="2697480"/>
          <a:ext cx="11338560" cy="3566160"/>
        </p:xfrm>
        <a:graphic>
          <a:graphicData uri="http://schemas.openxmlformats.org/drawingml/2006/table">
            <a:tbl>
              <a:tblPr firstRow="1" bandRow="1">
                <a:tableStyleId>{5C22544A-7EE6-4342-B048-85BDC9FD1C3A}</a:tableStyleId>
              </a:tblPr>
              <a:tblGrid>
                <a:gridCol w="4754880"/>
                <a:gridCol w="3200400"/>
                <a:gridCol w="3383280"/>
              </a:tblGrid>
              <a:tr h="509451">
                <a:tc>
                  <a:txBody>
                    <a:bodyPr wrap="square"/>
                    <a:lstStyle/>
                    <a:p>
                      <a:pPr algn="l"/>
                      <a:r>
                        <a:rPr sz="1100" b="1" i="0">
                          <a:solidFill>
                            <a:srgbClr val="B8923A"/>
                          </a:solidFill>
                          <a:latin typeface="Calibri"/>
                        </a:rPr>
                        <a:t/>
                      </a:r>
                    </a:p>
                  </a:txBody>
                  <a:tcPr>
                    <a:solidFill>
                      <a:srgbClr val="1E1810"/>
                    </a:solidFill>
                  </a:tcPr>
                </a:tc>
                <a:tc>
                  <a:txBody>
                    <a:bodyPr wrap="square"/>
                    <a:lstStyle/>
                    <a:p>
                      <a:pPr algn="l"/>
                      <a:r>
                        <a:rPr sz="1100" b="1" i="0">
                          <a:solidFill>
                            <a:srgbClr val="B8923A"/>
                          </a:solidFill>
                          <a:latin typeface="Calibri"/>
                        </a:rPr>
                        <a:t>master</a:t>
                      </a:r>
                    </a:p>
                  </a:txBody>
                  <a:tcPr>
                    <a:solidFill>
                      <a:srgbClr val="1E1810"/>
                    </a:solidFill>
                  </a:tcPr>
                </a:tc>
                <a:tc>
                  <a:txBody>
                    <a:bodyPr wrap="square"/>
                    <a:lstStyle/>
                    <a:p>
                      <a:pPr algn="l"/>
                      <a:r>
                        <a:rPr sz="1100" b="1" i="0">
                          <a:solidFill>
                            <a:srgbClr val="B8923A"/>
                          </a:solidFill>
                          <a:latin typeface="Calibri"/>
                        </a:rPr>
                        <a:t>this branch</a:t>
                      </a:r>
                    </a:p>
                  </a:txBody>
                  <a:tcPr>
                    <a:solidFill>
                      <a:srgbClr val="1E1810"/>
                    </a:solidFill>
                  </a:tcPr>
                </a:tc>
              </a:tr>
              <a:tr h="509451">
                <a:tc>
                  <a:txBody>
                    <a:bodyPr wrap="square"/>
                    <a:lstStyle/>
                    <a:p>
                      <a:pPr algn="l"/>
                      <a:r>
                        <a:rPr sz="1200" b="0" i="0">
                          <a:solidFill>
                            <a:srgbClr val="F7F4EF"/>
                          </a:solidFill>
                          <a:latin typeface="Calibri"/>
                        </a:rPr>
                        <a:t>HTTP/1 GET/PUT/HEAD/DELETE, bodies, TPC, checksums</a:t>
                      </a:r>
                    </a:p>
                  </a:txBody>
                  <a:tcPr>
                    <a:solidFill>
                      <a:srgbClr val="161416"/>
                    </a:solidFill>
                  </a:tcPr>
                </a:tc>
                <a:tc>
                  <a:txBody>
                    <a:bodyPr wrap="square"/>
                    <a:lstStyle/>
                    <a:p>
                      <a:pPr algn="l"/>
                      <a:r>
                        <a:rPr sz="1200" b="0" i="0">
                          <a:solidFill>
                            <a:srgbClr val="F7F4EF"/>
                          </a:solidFill>
                          <a:latin typeface="Calibri"/>
                        </a:rPr>
                        <a:t>XrdHttpReq + Bridge</a:t>
                      </a:r>
                    </a:p>
                  </a:txBody>
                  <a:tcPr>
                    <a:solidFill>
                      <a:srgbClr val="161416"/>
                    </a:solidFill>
                  </a:tcPr>
                </a:tc>
                <a:tc>
                  <a:txBody>
                    <a:bodyPr wrap="square"/>
                    <a:lstStyle/>
                    <a:p>
                      <a:pPr algn="l"/>
                      <a:r>
                        <a:rPr sz="1200" b="0" i="0">
                          <a:solidFill>
                            <a:srgbClr val="F7F4EF"/>
                          </a:solidFill>
                          <a:latin typeface="Calibri"/>
                        </a:rPr>
                        <a:t>Same code</a:t>
                      </a:r>
                    </a:p>
                  </a:txBody>
                  <a:tcPr>
                    <a:solidFill>
                      <a:srgbClr val="161416"/>
                    </a:solidFill>
                  </a:tcPr>
                </a:tc>
              </a:tr>
              <a:tr h="509451">
                <a:tc>
                  <a:txBody>
                    <a:bodyPr wrap="square"/>
                    <a:lstStyle/>
                    <a:p>
                      <a:pPr algn="l"/>
                      <a:r>
                        <a:rPr sz="1200" b="0" i="0">
                          <a:solidFill>
                            <a:srgbClr val="F7F4EF"/>
                          </a:solidFill>
                          <a:latin typeface="Calibri"/>
                        </a:rPr>
                        <a:t>HTTP/1 header parser</a:t>
                      </a:r>
                    </a:p>
                  </a:txBody>
                  <a:tcPr>
                    <a:solidFill>
                      <a:srgbClr val="161416"/>
                    </a:solidFill>
                  </a:tcPr>
                </a:tc>
                <a:tc>
                  <a:txBody>
                    <a:bodyPr wrap="square"/>
                    <a:lstStyle/>
                    <a:p>
                      <a:pPr algn="l"/>
                      <a:r>
                        <a:rPr sz="1200" b="0" i="0">
                          <a:solidFill>
                            <a:srgbClr val="F7F4EF"/>
                          </a:solidFill>
                          <a:latin typeface="Calibri"/>
                        </a:rPr>
                        <a:t>line scanner in XrdHttpReq</a:t>
                      </a:r>
                    </a:p>
                  </a:txBody>
                  <a:tcPr>
                    <a:solidFill>
                      <a:srgbClr val="161416"/>
                    </a:solidFill>
                  </a:tcPr>
                </a:tc>
                <a:tc>
                  <a:txBody>
                    <a:bodyPr wrap="square"/>
                    <a:lstStyle/>
                    <a:p>
                      <a:pPr algn="l"/>
                      <a:r>
                        <a:rPr sz="1200" b="0" i="0">
                          <a:solidFill>
                            <a:srgbClr val="F7F4EF"/>
                          </a:solidFill>
                          <a:latin typeface="Calibri"/>
                        </a:rPr>
                        <a:t>llhttp (or legacy)</a:t>
                      </a:r>
                    </a:p>
                  </a:txBody>
                  <a:tcPr>
                    <a:solidFill>
                      <a:srgbClr val="161416"/>
                    </a:solidFill>
                  </a:tcPr>
                </a:tc>
              </a:tr>
              <a:tr h="509451">
                <a:tc>
                  <a:txBody>
                    <a:bodyPr wrap="square"/>
                    <a:lstStyle/>
                    <a:p>
                      <a:pPr algn="l"/>
                      <a:r>
                        <a:rPr sz="1200" b="0" i="0">
                          <a:solidFill>
                            <a:srgbClr val="F7F4EF"/>
                          </a:solidFill>
                          <a:latin typeface="Calibri"/>
                        </a:rPr>
                        <a:t>HTTP/2</a:t>
                      </a:r>
                    </a:p>
                  </a:txBody>
                  <a:tcPr>
                    <a:solidFill>
                      <a:srgbClr val="161416"/>
                    </a:solidFill>
                  </a:tcPr>
                </a:tc>
                <a:tc>
                  <a:txBody>
                    <a:bodyPr wrap="square"/>
                    <a:lstStyle/>
                    <a:p>
                      <a:pPr algn="l"/>
                      <a:r>
                        <a:rPr sz="1200" b="0" i="0">
                          <a:solidFill>
                            <a:srgbClr val="F7F4EF"/>
                          </a:solidFill>
                          <a:latin typeface="Calibri"/>
                        </a:rPr>
                        <a:t>none</a:t>
                      </a:r>
                    </a:p>
                  </a:txBody>
                  <a:tcPr>
                    <a:solidFill>
                      <a:srgbClr val="161416"/>
                    </a:solidFill>
                  </a:tcPr>
                </a:tc>
                <a:tc>
                  <a:txBody>
                    <a:bodyPr wrap="square"/>
                    <a:lstStyle/>
                    <a:p>
                      <a:pPr algn="l"/>
                      <a:r>
                        <a:rPr sz="1200" b="0" i="0">
                          <a:solidFill>
                            <a:srgbClr val="F7F4EF"/>
                          </a:solidFill>
                          <a:latin typeface="Calibri"/>
                        </a:rPr>
                        <a:t>nghttp2, then the same XrdHttpReq</a:t>
                      </a:r>
                    </a:p>
                  </a:txBody>
                  <a:tcPr>
                    <a:solidFill>
                      <a:srgbClr val="161416"/>
                    </a:solidFill>
                  </a:tcPr>
                </a:tc>
              </a:tr>
              <a:tr h="509451">
                <a:tc>
                  <a:txBody>
                    <a:bodyPr wrap="square"/>
                    <a:lstStyle/>
                    <a:p>
                      <a:pPr algn="l"/>
                      <a:r>
                        <a:rPr sz="1200" b="0" i="0">
                          <a:solidFill>
                            <a:srgbClr val="F7F4EF"/>
                          </a:solidFill>
                          <a:latin typeface="Calibri"/>
                        </a:rPr>
                        <a:t>Kerberos on HTTP</a:t>
                      </a:r>
                    </a:p>
                  </a:txBody>
                  <a:tcPr>
                    <a:solidFill>
                      <a:srgbClr val="161416"/>
                    </a:solidFill>
                  </a:tcPr>
                </a:tc>
                <a:tc>
                  <a:txBody>
                    <a:bodyPr wrap="square"/>
                    <a:lstStyle/>
                    <a:p>
                      <a:pPr algn="l"/>
                      <a:r>
                        <a:rPr sz="1200" b="0" i="0">
                          <a:solidFill>
                            <a:srgbClr val="F7F4EF"/>
                          </a:solidFill>
                          <a:latin typeface="Calibri"/>
                        </a:rPr>
                        <a:t>none (only root://)</a:t>
                      </a:r>
                    </a:p>
                  </a:txBody>
                  <a:tcPr>
                    <a:solidFill>
                      <a:srgbClr val="161416"/>
                    </a:solidFill>
                  </a:tcPr>
                </a:tc>
                <a:tc>
                  <a:txBody>
                    <a:bodyPr wrap="square"/>
                    <a:lstStyle/>
                    <a:p>
                      <a:pPr algn="l"/>
                      <a:r>
                        <a:rPr sz="1200" b="0" i="0">
                          <a:solidFill>
                            <a:srgbClr val="F7F4EF"/>
                          </a:solidFill>
                          <a:latin typeface="Calibri"/>
                        </a:rPr>
                        <a:t>http.auth krb5 SPNEGO</a:t>
                      </a:r>
                    </a:p>
                  </a:txBody>
                  <a:tcPr>
                    <a:solidFill>
                      <a:srgbClr val="161416"/>
                    </a:solidFill>
                  </a:tcPr>
                </a:tc>
              </a:tr>
              <a:tr h="509451">
                <a:tc>
                  <a:txBody>
                    <a:bodyPr wrap="square"/>
                    <a:lstStyle/>
                    <a:p>
                      <a:pPr algn="l"/>
                      <a:r>
                        <a:rPr sz="1200" b="0" i="0">
                          <a:solidFill>
                            <a:srgbClr val="F7F4EF"/>
                          </a:solidFill>
                          <a:latin typeface="Calibri"/>
                        </a:rPr>
                        <a:t>Partial write</a:t>
                      </a:r>
                    </a:p>
                  </a:txBody>
                  <a:tcPr>
                    <a:solidFill>
                      <a:srgbClr val="161416"/>
                    </a:solidFill>
                  </a:tcPr>
                </a:tc>
                <a:tc>
                  <a:txBody>
                    <a:bodyPr wrap="square"/>
                    <a:lstStyle/>
                    <a:p>
                      <a:pPr algn="l"/>
                      <a:r>
                        <a:rPr sz="1200" b="0" i="0">
                          <a:solidFill>
                            <a:srgbClr val="F7F4EF"/>
                          </a:solidFill>
                          <a:latin typeface="Calibri"/>
                        </a:rPr>
                        <a:t>PUT replaces the whole file</a:t>
                      </a:r>
                    </a:p>
                  </a:txBody>
                  <a:tcPr>
                    <a:solidFill>
                      <a:srgbClr val="161416"/>
                    </a:solidFill>
                  </a:tcPr>
                </a:tc>
                <a:tc>
                  <a:txBody>
                    <a:bodyPr wrap="square"/>
                    <a:lstStyle/>
                    <a:p>
                      <a:pPr algn="l"/>
                      <a:r>
                        <a:rPr sz="1200" b="0" i="0">
                          <a:solidFill>
                            <a:srgbClr val="F7F4EF"/>
                          </a:solidFill>
                          <a:latin typeface="Calibri"/>
                        </a:rPr>
                        <a:t>PATCH with Content-Range</a:t>
                      </a:r>
                    </a:p>
                  </a:txBody>
                  <a:tcPr>
                    <a:solidFill>
                      <a:srgbClr val="161416"/>
                    </a:solidFill>
                  </a:tcPr>
                </a:tc>
              </a:tr>
              <a:tr h="509454">
                <a:tc>
                  <a:txBody>
                    <a:bodyPr wrap="square"/>
                    <a:lstStyle/>
                    <a:p>
                      <a:pPr algn="l"/>
                      <a:r>
                        <a:rPr sz="1200" b="0" i="0">
                          <a:solidFill>
                            <a:srgbClr val="F7F4EF"/>
                          </a:solidFill>
                          <a:latin typeface="Calibri"/>
                        </a:rPr>
                        <a:t>POSIX over HTTP</a:t>
                      </a:r>
                    </a:p>
                  </a:txBody>
                  <a:tcPr>
                    <a:solidFill>
                      <a:srgbClr val="161416"/>
                    </a:solidFill>
                  </a:tcPr>
                </a:tc>
                <a:tc>
                  <a:txBody>
                    <a:bodyPr wrap="square"/>
                    <a:lstStyle/>
                    <a:p>
                      <a:pPr algn="l"/>
                      <a:r>
                        <a:rPr sz="1200" b="0" i="0">
                          <a:solidFill>
                            <a:srgbClr val="F7F4EF"/>
                          </a:solidFill>
                          <a:latin typeface="Calibri"/>
                        </a:rPr>
                        <a:t>none</a:t>
                      </a:r>
                    </a:p>
                  </a:txBody>
                  <a:tcPr>
                    <a:solidFill>
                      <a:srgbClr val="161416"/>
                    </a:solidFill>
                  </a:tcPr>
                </a:tc>
                <a:tc>
                  <a:txBody>
                    <a:bodyPr wrap="square"/>
                    <a:lstStyle/>
                    <a:p>
                      <a:pPr algn="l"/>
                      <a:r>
                        <a:rPr sz="1200" b="0" i="0">
                          <a:solidFill>
                            <a:srgbClr val="F7F4EF"/>
                          </a:solidFill>
                          <a:latin typeface="Calibri"/>
                        </a:rPr>
                        <a:t>XIOFS: CLI, FUSE, kernel module</a:t>
                      </a:r>
                    </a:p>
                  </a:txBody>
                  <a:tcPr>
                    <a:solidFill>
                      <a:srgbClr val="161416"/>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13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HTTP/2</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What was added</a:t>
            </a:r>
          </a:p>
        </p:txBody>
      </p:sp>
      <p:sp>
        <p:nvSpPr>
          <p:cNvPr id="9" name="Rounded Rectangle 8"/>
          <p:cNvSpPr/>
          <p:nvPr/>
        </p:nvSpPr>
        <p:spPr>
          <a:xfrm>
            <a:off x="502920" y="1920240"/>
            <a:ext cx="5486400" cy="347472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011680"/>
            <a:ext cx="5266944" cy="292608"/>
          </a:xfrm>
          <a:prstGeom prst="rect">
            <a:avLst/>
          </a:prstGeom>
          <a:noFill/>
        </p:spPr>
        <p:txBody>
          <a:bodyPr wrap="square">
            <a:spAutoFit/>
          </a:bodyPr>
          <a:lstStyle/>
          <a:p>
            <a:pPr algn="l"/>
            <a:r>
              <a:rPr sz="1500" b="1" i="0">
                <a:solidFill>
                  <a:srgbClr val="B8923A"/>
                </a:solidFill>
                <a:latin typeface="Calibri"/>
              </a:rPr>
              <a:t>How the client selects HTTP/2</a:t>
            </a:r>
          </a:p>
        </p:txBody>
      </p:sp>
      <p:sp>
        <p:nvSpPr>
          <p:cNvPr id="11" name="TextBox 10"/>
          <p:cNvSpPr txBox="1"/>
          <p:nvPr/>
        </p:nvSpPr>
        <p:spPr>
          <a:xfrm>
            <a:off x="612648" y="2322576"/>
            <a:ext cx="5266944" cy="2980944"/>
          </a:xfrm>
          <a:prstGeom prst="rect">
            <a:avLst/>
          </a:prstGeom>
          <a:noFill/>
        </p:spPr>
        <p:txBody>
          <a:bodyPr wrap="square">
            <a:spAutoFit/>
          </a:bodyPr>
          <a:lstStyle/>
          <a:p>
            <a:pPr>
              <a:spcAft>
                <a:spcPts val="400"/>
              </a:spcAft>
            </a:pPr>
            <a:r>
              <a:rPr sz="1300" b="0" i="0">
                <a:solidFill>
                  <a:srgbClr val="F7F4EF"/>
                </a:solidFill>
                <a:latin typeface="Calibri"/>
              </a:rPr>
              <a:t>• HTTPS: TLS ALPN token h2</a:t>
            </a:r>
          </a:p>
          <a:p>
            <a:pPr>
              <a:spcAft>
                <a:spcPts val="400"/>
              </a:spcAft>
            </a:pPr>
            <a:r>
              <a:rPr sz="1300" b="0" i="0">
                <a:solidFill>
                  <a:srgbClr val="F7F4EF"/>
                </a:solidFill>
                <a:latin typeface="Calibri"/>
              </a:rPr>
              <a:t>• Plain TCP: HTTP/2 connection preface, or HTTP/1.1 Upgrade: h2c</a:t>
            </a:r>
          </a:p>
          <a:p>
            <a:pPr>
              <a:spcAft>
                <a:spcPts val="400"/>
              </a:spcAft>
            </a:pPr>
            <a:r>
              <a:rPr sz="1300" b="0" i="0">
                <a:solidFill>
                  <a:srgbClr val="F7F4EF"/>
                </a:solidFill>
                <a:latin typeface="Calibri"/>
              </a:rPr>
              <a:t>• http.h2 off advertises only HTTP/1.1</a:t>
            </a:r>
          </a:p>
        </p:txBody>
      </p:sp>
      <p:sp>
        <p:nvSpPr>
          <p:cNvPr id="12" name="Rounded Rectangle 11"/>
          <p:cNvSpPr/>
          <p:nvPr/>
        </p:nvSpPr>
        <p:spPr>
          <a:xfrm>
            <a:off x="6217920" y="1920240"/>
            <a:ext cx="5486400" cy="347472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8" y="2011680"/>
            <a:ext cx="5266944" cy="292608"/>
          </a:xfrm>
          <a:prstGeom prst="rect">
            <a:avLst/>
          </a:prstGeom>
          <a:noFill/>
        </p:spPr>
        <p:txBody>
          <a:bodyPr wrap="square">
            <a:spAutoFit/>
          </a:bodyPr>
          <a:lstStyle/>
          <a:p>
            <a:pPr algn="l"/>
            <a:r>
              <a:rPr sz="1500" b="1" i="0">
                <a:solidFill>
                  <a:srgbClr val="B8923A"/>
                </a:solidFill>
                <a:latin typeface="Calibri"/>
              </a:rPr>
              <a:t>Behaviour</a:t>
            </a:r>
          </a:p>
        </p:txBody>
      </p:sp>
      <p:sp>
        <p:nvSpPr>
          <p:cNvPr id="14" name="TextBox 13"/>
          <p:cNvSpPr txBox="1"/>
          <p:nvPr/>
        </p:nvSpPr>
        <p:spPr>
          <a:xfrm>
            <a:off x="6327648" y="2322576"/>
            <a:ext cx="5266944" cy="2980944"/>
          </a:xfrm>
          <a:prstGeom prst="rect">
            <a:avLst/>
          </a:prstGeom>
          <a:noFill/>
        </p:spPr>
        <p:txBody>
          <a:bodyPr wrap="square">
            <a:spAutoFit/>
          </a:bodyPr>
          <a:lstStyle/>
          <a:p>
            <a:pPr>
              <a:spcAft>
                <a:spcPts val="400"/>
              </a:spcAft>
            </a:pPr>
            <a:r>
              <a:rPr sz="1300" b="0" i="0">
                <a:solidFill>
                  <a:srgbClr val="F7F4EF"/>
                </a:solidFill>
                <a:latin typeface="Calibri"/>
              </a:rPr>
              <a:t>• PUT sends body as DATA arrives</a:t>
            </a:r>
          </a:p>
          <a:p>
            <a:pPr>
              <a:spcAft>
                <a:spcPts val="400"/>
              </a:spcAft>
            </a:pPr>
            <a:r>
              <a:rPr sz="1300" b="0" i="0">
                <a:solidFill>
                  <a:srgbClr val="F7F4EF"/>
                </a:solidFill>
                <a:latin typeface="Calibri"/>
              </a:rPr>
              <a:t>• Up to 100 streams queued; Bridge still one at a time</a:t>
            </a:r>
          </a:p>
          <a:p>
            <a:pPr>
              <a:spcAft>
                <a:spcPts val="400"/>
              </a:spcAft>
            </a:pPr>
            <a:r>
              <a:rPr sz="1300" b="0" i="0">
                <a:solidFill>
                  <a:srgbClr val="F7F4EF"/>
                </a:solidFill>
                <a:latin typeface="Calibri"/>
              </a:rPr>
              <a:t>• Flow control both ways; RST_STREAM drops a stream</a:t>
            </a:r>
          </a:p>
          <a:p>
            <a:pPr>
              <a:spcAft>
                <a:spcPts val="400"/>
              </a:spcAft>
            </a:pPr>
            <a:r>
              <a:rPr sz="1300" b="0" i="0">
                <a:solidFill>
                  <a:srgbClr val="F7F4EF"/>
                </a:solidFill>
                <a:latin typeface="Calibri"/>
              </a:rPr>
              <a:t>• http.h2push /path after a GET, if the client allows push</a:t>
            </a:r>
          </a:p>
        </p:txBody>
      </p:sp>
      <p:sp>
        <p:nvSpPr>
          <p:cNvPr id="15" name="TextBox 14"/>
          <p:cNvSpPr txBox="1"/>
          <p:nvPr/>
        </p:nvSpPr>
        <p:spPr>
          <a:xfrm>
            <a:off x="502920" y="5623560"/>
            <a:ext cx="11155680" cy="457200"/>
          </a:xfrm>
          <a:prstGeom prst="rect">
            <a:avLst/>
          </a:prstGeom>
          <a:noFill/>
        </p:spPr>
        <p:txBody>
          <a:bodyPr wrap="square">
            <a:spAutoFit/>
          </a:bodyPr>
          <a:lstStyle/>
          <a:p>
            <a:pPr algn="l"/>
            <a:r>
              <a:rPr sz="1400" b="0" i="0">
                <a:solidFill>
                  <a:srgbClr val="C9BFB6"/>
                </a:solidFill>
                <a:latin typeface="Calibri"/>
              </a:rPr>
              <a:t>Needs libnghttp2 (BUILD_HTTP2). Tests: XRootD::httph2.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14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KERBEROS</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HTTP clients can use the site KDC</a:t>
            </a:r>
          </a:p>
        </p:txBody>
      </p:sp>
      <p:sp>
        <p:nvSpPr>
          <p:cNvPr id="9" name="TextBox 8"/>
          <p:cNvSpPr txBox="1"/>
          <p:nvPr/>
        </p:nvSpPr>
        <p:spPr>
          <a:xfrm>
            <a:off x="502920" y="1737360"/>
            <a:ext cx="11155680" cy="685800"/>
          </a:xfrm>
          <a:prstGeom prst="rect">
            <a:avLst/>
          </a:prstGeom>
          <a:noFill/>
        </p:spPr>
        <p:txBody>
          <a:bodyPr wrap="square">
            <a:spAutoFit/>
          </a:bodyPr>
          <a:lstStyle/>
          <a:p>
            <a:pPr algn="l"/>
            <a:r>
              <a:rPr sz="1600" b="0" i="0">
                <a:solidFill>
                  <a:srgbClr val="C9BFB6"/>
                </a:solidFill>
                <a:latin typeface="Calibri"/>
              </a:rPr>
              <a:t>New on this branch. Native xroot Kerberos is unchanged. HTTP uses SPNEGO (WWW-Authenticate: Negotiate) and then logs into the Bridge as krb5.</a:t>
            </a:r>
          </a:p>
        </p:txBody>
      </p:sp>
      <p:sp>
        <p:nvSpPr>
          <p:cNvPr id="10" name="Rounded Rectangle 9"/>
          <p:cNvSpPr/>
          <p:nvPr/>
        </p:nvSpPr>
        <p:spPr>
          <a:xfrm>
            <a:off x="502920" y="2560320"/>
            <a:ext cx="5486400" cy="33832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2651760"/>
            <a:ext cx="5266944" cy="292608"/>
          </a:xfrm>
          <a:prstGeom prst="rect">
            <a:avLst/>
          </a:prstGeom>
          <a:noFill/>
        </p:spPr>
        <p:txBody>
          <a:bodyPr wrap="square">
            <a:spAutoFit/>
          </a:bodyPr>
          <a:lstStyle/>
          <a:p>
            <a:pPr algn="l"/>
            <a:r>
              <a:rPr sz="1500" b="1" i="0">
                <a:solidFill>
                  <a:srgbClr val="B8923A"/>
                </a:solidFill>
                <a:latin typeface="Calibri"/>
              </a:rPr>
              <a:t>Server</a:t>
            </a:r>
          </a:p>
        </p:txBody>
      </p:sp>
      <p:sp>
        <p:nvSpPr>
          <p:cNvPr id="12" name="TextBox 11"/>
          <p:cNvSpPr txBox="1"/>
          <p:nvPr/>
        </p:nvSpPr>
        <p:spPr>
          <a:xfrm>
            <a:off x="612648" y="2962656"/>
            <a:ext cx="5266944" cy="2889504"/>
          </a:xfrm>
          <a:prstGeom prst="rect">
            <a:avLst/>
          </a:prstGeom>
          <a:noFill/>
        </p:spPr>
        <p:txBody>
          <a:bodyPr wrap="square">
            <a:spAutoFit/>
          </a:bodyPr>
          <a:lstStyle/>
          <a:p>
            <a:pPr>
              <a:spcAft>
                <a:spcPts val="400"/>
              </a:spcAft>
            </a:pPr>
            <a:r>
              <a:rPr sz="1300" b="0" i="0">
                <a:solidFill>
                  <a:srgbClr val="F7F4EF"/>
                </a:solidFill>
                <a:latin typeface="Calibri"/>
              </a:rPr>
              <a:t>• http.auth krb5 /etc/krb5.keytab HTTP/&lt;host&gt;@REALM</a:t>
            </a:r>
          </a:p>
          <a:p>
            <a:pPr>
              <a:spcAft>
                <a:spcPts val="400"/>
              </a:spcAft>
            </a:pPr>
            <a:r>
              <a:rPr sz="1300" b="0" i="0">
                <a:solidFill>
                  <a:srgbClr val="F7F4EF"/>
                </a:solidFill>
                <a:latin typeface="Calibri"/>
              </a:rPr>
              <a:t>• Service class is HTTP, not host</a:t>
            </a:r>
          </a:p>
          <a:p>
            <a:pPr>
              <a:spcAft>
                <a:spcPts val="400"/>
              </a:spcAft>
            </a:pPr>
            <a:r>
              <a:rPr sz="1300" b="0" i="0">
                <a:solidFill>
                  <a:srgbClr val="F7F4EF"/>
                </a:solidFill>
                <a:latin typeface="Calibri"/>
              </a:rPr>
              <a:t>• HTTPS required</a:t>
            </a:r>
          </a:p>
          <a:p>
            <a:pPr>
              <a:spcAft>
                <a:spcPts val="400"/>
              </a:spcAft>
            </a:pPr>
            <a:r>
              <a:rPr sz="1300" b="0" i="0">
                <a:solidFill>
                  <a:srgbClr val="F7F4EF"/>
                </a:solidFill>
                <a:latin typeface="Calibri"/>
              </a:rPr>
              <a:t>• Usually http.tlsclientauth off</a:t>
            </a:r>
          </a:p>
        </p:txBody>
      </p:sp>
      <p:sp>
        <p:nvSpPr>
          <p:cNvPr id="13" name="Rounded Rectangle 12"/>
          <p:cNvSpPr/>
          <p:nvPr/>
        </p:nvSpPr>
        <p:spPr>
          <a:xfrm>
            <a:off x="6217920" y="2560320"/>
            <a:ext cx="5486400" cy="33832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2651760"/>
            <a:ext cx="5266944" cy="292608"/>
          </a:xfrm>
          <a:prstGeom prst="rect">
            <a:avLst/>
          </a:prstGeom>
          <a:noFill/>
        </p:spPr>
        <p:txBody>
          <a:bodyPr wrap="square">
            <a:spAutoFit/>
          </a:bodyPr>
          <a:lstStyle/>
          <a:p>
            <a:pPr algn="l"/>
            <a:r>
              <a:rPr sz="1500" b="1" i="0">
                <a:solidFill>
                  <a:srgbClr val="B8923A"/>
                </a:solidFill>
                <a:latin typeface="Calibri"/>
              </a:rPr>
              <a:t>Client</a:t>
            </a:r>
          </a:p>
        </p:txBody>
      </p:sp>
      <p:sp>
        <p:nvSpPr>
          <p:cNvPr id="15" name="TextBox 14"/>
          <p:cNvSpPr txBox="1"/>
          <p:nvPr/>
        </p:nvSpPr>
        <p:spPr>
          <a:xfrm>
            <a:off x="6327648" y="2962656"/>
            <a:ext cx="5266944" cy="2889504"/>
          </a:xfrm>
          <a:prstGeom prst="rect">
            <a:avLst/>
          </a:prstGeom>
          <a:noFill/>
        </p:spPr>
        <p:txBody>
          <a:bodyPr wrap="square">
            <a:spAutoFit/>
          </a:bodyPr>
          <a:lstStyle/>
          <a:p>
            <a:pPr>
              <a:spcAft>
                <a:spcPts val="400"/>
              </a:spcAft>
            </a:pPr>
            <a:r>
              <a:rPr sz="1300" b="0" i="0">
                <a:solidFill>
                  <a:srgbClr val="F7F4EF"/>
                </a:solidFill>
                <a:latin typeface="Calibri"/>
              </a:rPr>
              <a:t>• kinit, then: curl --negotiate -u : --cacert ca.pem https://host/file</a:t>
            </a:r>
          </a:p>
          <a:p>
            <a:pPr>
              <a:spcAft>
                <a:spcPts val="400"/>
              </a:spcAft>
            </a:pPr>
            <a:r>
              <a:rPr sz="1300" b="0" i="0">
                <a:solidFill>
                  <a:srgbClr val="F7F4EF"/>
                </a:solidFill>
                <a:latin typeface="Calibri"/>
              </a:rPr>
              <a:t>• 401, then the token on the same connection</a:t>
            </a:r>
          </a:p>
          <a:p>
            <a:pPr>
              <a:spcAft>
                <a:spcPts val="400"/>
              </a:spcAft>
            </a:pPr>
            <a:r>
              <a:rPr sz="1300" b="0" i="0">
                <a:solidFill>
                  <a:srgbClr val="F7F4EF"/>
                </a:solidFill>
                <a:latin typeface="Calibri"/>
              </a:rPr>
              <a:t>• Independent of HTTP/1.1 vs HTTP/2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15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XIOFS</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POSIX client: CLI, FUSE, kernel</a:t>
            </a:r>
          </a:p>
        </p:txBody>
      </p:sp>
      <p:sp>
        <p:nvSpPr>
          <p:cNvPr id="9" name="Rounded Rectangle 8"/>
          <p:cNvSpPr/>
          <p:nvPr/>
        </p:nvSpPr>
        <p:spPr>
          <a:xfrm>
            <a:off x="502920" y="1783080"/>
            <a:ext cx="3566160" cy="196596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1874519"/>
            <a:ext cx="3346704" cy="201168"/>
          </a:xfrm>
          <a:prstGeom prst="rect">
            <a:avLst/>
          </a:prstGeom>
          <a:noFill/>
        </p:spPr>
        <p:txBody>
          <a:bodyPr wrap="square">
            <a:spAutoFit/>
          </a:bodyPr>
          <a:lstStyle/>
          <a:p>
            <a:pPr algn="l"/>
            <a:r>
              <a:rPr sz="1000" b="1" i="0">
                <a:solidFill>
                  <a:srgbClr val="B8923A"/>
                </a:solidFill>
                <a:latin typeface="Calibri"/>
              </a:rPr>
              <a:t>USERSPACE</a:t>
            </a:r>
          </a:p>
        </p:txBody>
      </p:sp>
      <p:sp>
        <p:nvSpPr>
          <p:cNvPr id="11" name="TextBox 10"/>
          <p:cNvSpPr txBox="1"/>
          <p:nvPr/>
        </p:nvSpPr>
        <p:spPr>
          <a:xfrm>
            <a:off x="612648" y="2075688"/>
            <a:ext cx="3346704" cy="292608"/>
          </a:xfrm>
          <a:prstGeom prst="rect">
            <a:avLst/>
          </a:prstGeom>
          <a:noFill/>
        </p:spPr>
        <p:txBody>
          <a:bodyPr wrap="square">
            <a:spAutoFit/>
          </a:bodyPr>
          <a:lstStyle/>
          <a:p>
            <a:pPr algn="l"/>
            <a:r>
              <a:rPr sz="1500" b="1" i="0">
                <a:solidFill>
                  <a:srgbClr val="B8923A"/>
                </a:solidFill>
                <a:latin typeface="Calibri"/>
              </a:rPr>
              <a:t>xiofscli / xiofsd</a:t>
            </a:r>
          </a:p>
        </p:txBody>
      </p:sp>
      <p:sp>
        <p:nvSpPr>
          <p:cNvPr id="12" name="TextBox 11"/>
          <p:cNvSpPr txBox="1"/>
          <p:nvPr/>
        </p:nvSpPr>
        <p:spPr>
          <a:xfrm>
            <a:off x="612648" y="2386584"/>
            <a:ext cx="3346704" cy="1271016"/>
          </a:xfrm>
          <a:prstGeom prst="rect">
            <a:avLst/>
          </a:prstGeom>
          <a:noFill/>
        </p:spPr>
        <p:txBody>
          <a:bodyPr wrap="square">
            <a:spAutoFit/>
          </a:bodyPr>
          <a:lstStyle/>
          <a:p>
            <a:pPr>
              <a:spcAft>
                <a:spcPts val="400"/>
              </a:spcAft>
            </a:pPr>
            <a:r>
              <a:rPr sz="1300" b="0" i="0">
                <a:solidFill>
                  <a:srgbClr val="F7F4EF"/>
                </a:solidFill>
                <a:latin typeface="Calibri"/>
              </a:rPr>
              <a:t>• HTTP/2. FUSE multiplexes I/O on one connection. Used to develop and test the methods.</a:t>
            </a:r>
          </a:p>
        </p:txBody>
      </p:sp>
      <p:sp>
        <p:nvSpPr>
          <p:cNvPr id="13" name="Rounded Rectangle 12"/>
          <p:cNvSpPr/>
          <p:nvPr/>
        </p:nvSpPr>
        <p:spPr>
          <a:xfrm>
            <a:off x="4297680" y="1783080"/>
            <a:ext cx="3566160" cy="196596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8" y="1874519"/>
            <a:ext cx="3346704" cy="201168"/>
          </a:xfrm>
          <a:prstGeom prst="rect">
            <a:avLst/>
          </a:prstGeom>
          <a:noFill/>
        </p:spPr>
        <p:txBody>
          <a:bodyPr wrap="square">
            <a:spAutoFit/>
          </a:bodyPr>
          <a:lstStyle/>
          <a:p>
            <a:pPr algn="l"/>
            <a:r>
              <a:rPr sz="1000" b="1" i="0">
                <a:solidFill>
                  <a:srgbClr val="B8923A"/>
                </a:solidFill>
                <a:latin typeface="Calibri"/>
              </a:rPr>
              <a:t>KERNEL</a:t>
            </a:r>
          </a:p>
        </p:txBody>
      </p:sp>
      <p:sp>
        <p:nvSpPr>
          <p:cNvPr id="15" name="TextBox 14"/>
          <p:cNvSpPr txBox="1"/>
          <p:nvPr/>
        </p:nvSpPr>
        <p:spPr>
          <a:xfrm>
            <a:off x="4407408" y="2075688"/>
            <a:ext cx="3346704" cy="292608"/>
          </a:xfrm>
          <a:prstGeom prst="rect">
            <a:avLst/>
          </a:prstGeom>
          <a:noFill/>
        </p:spPr>
        <p:txBody>
          <a:bodyPr wrap="square">
            <a:spAutoFit/>
          </a:bodyPr>
          <a:lstStyle/>
          <a:p>
            <a:pPr algn="l"/>
            <a:r>
              <a:rPr sz="1500" b="1" i="0">
                <a:solidFill>
                  <a:srgbClr val="B8923A"/>
                </a:solidFill>
                <a:latin typeface="Calibri"/>
              </a:rPr>
              <a:t>xiofs.ko</a:t>
            </a:r>
          </a:p>
        </p:txBody>
      </p:sp>
      <p:sp>
        <p:nvSpPr>
          <p:cNvPr id="16" name="TextBox 15"/>
          <p:cNvSpPr txBox="1"/>
          <p:nvPr/>
        </p:nvSpPr>
        <p:spPr>
          <a:xfrm>
            <a:off x="4407408" y="2386584"/>
            <a:ext cx="3346704" cy="1271016"/>
          </a:xfrm>
          <a:prstGeom prst="rect">
            <a:avLst/>
          </a:prstGeom>
          <a:noFill/>
        </p:spPr>
        <p:txBody>
          <a:bodyPr wrap="square">
            <a:spAutoFit/>
          </a:bodyPr>
          <a:lstStyle/>
          <a:p>
            <a:pPr>
              <a:spcAft>
                <a:spcPts val="400"/>
              </a:spcAft>
            </a:pPr>
            <a:r>
              <a:rPr sz="1300" b="0" i="0">
                <a:solidFill>
                  <a:srgbClr val="F7F4EF"/>
                </a:solidFill>
                <a:latin typeface="Calibri"/>
              </a:rPr>
              <a:t>• Linux page cache. HTTP/1.1 on a kTLS socket. Handshake is still userspace (xiofsagent).</a:t>
            </a:r>
          </a:p>
        </p:txBody>
      </p:sp>
      <p:sp>
        <p:nvSpPr>
          <p:cNvPr id="17" name="Rounded Rectangle 16"/>
          <p:cNvSpPr/>
          <p:nvPr/>
        </p:nvSpPr>
        <p:spPr>
          <a:xfrm>
            <a:off x="8092440" y="1783080"/>
            <a:ext cx="3566160" cy="196596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2167" y="1874519"/>
            <a:ext cx="3346704" cy="201168"/>
          </a:xfrm>
          <a:prstGeom prst="rect">
            <a:avLst/>
          </a:prstGeom>
          <a:noFill/>
        </p:spPr>
        <p:txBody>
          <a:bodyPr wrap="square">
            <a:spAutoFit/>
          </a:bodyPr>
          <a:lstStyle/>
          <a:p>
            <a:pPr algn="l"/>
            <a:r>
              <a:rPr sz="1000" b="1" i="0">
                <a:solidFill>
                  <a:srgbClr val="E8A0BF"/>
                </a:solidFill>
                <a:latin typeface="Calibri"/>
              </a:rPr>
              <a:t>STUB</a:t>
            </a:r>
          </a:p>
        </p:txBody>
      </p:sp>
      <p:sp>
        <p:nvSpPr>
          <p:cNvPr id="19" name="TextBox 18"/>
          <p:cNvSpPr txBox="1"/>
          <p:nvPr/>
        </p:nvSpPr>
        <p:spPr>
          <a:xfrm>
            <a:off x="8202167" y="2075688"/>
            <a:ext cx="3346704" cy="292608"/>
          </a:xfrm>
          <a:prstGeom prst="rect">
            <a:avLst/>
          </a:prstGeom>
          <a:noFill/>
        </p:spPr>
        <p:txBody>
          <a:bodyPr wrap="square">
            <a:spAutoFit/>
          </a:bodyPr>
          <a:lstStyle/>
          <a:p>
            <a:pPr algn="l"/>
            <a:r>
              <a:rPr sz="1500" b="1" i="0">
                <a:solidFill>
                  <a:srgbClr val="B8923A"/>
                </a:solidFill>
                <a:latin typeface="Calibri"/>
              </a:rPr>
              <a:t>RDMA / GPU</a:t>
            </a:r>
          </a:p>
        </p:txBody>
      </p:sp>
      <p:sp>
        <p:nvSpPr>
          <p:cNvPr id="20" name="TextBox 19"/>
          <p:cNvSpPr txBox="1"/>
          <p:nvPr/>
        </p:nvSpPr>
        <p:spPr>
          <a:xfrm>
            <a:off x="8202167" y="2386584"/>
            <a:ext cx="3346704" cy="1271016"/>
          </a:xfrm>
          <a:prstGeom prst="rect">
            <a:avLst/>
          </a:prstGeom>
          <a:noFill/>
        </p:spPr>
        <p:txBody>
          <a:bodyPr wrap="square">
            <a:spAutoFit/>
          </a:bodyPr>
          <a:lstStyle/>
          <a:p>
            <a:pPr>
              <a:spcAft>
                <a:spcPts val="400"/>
              </a:spcAft>
            </a:pPr>
            <a:r>
              <a:rPr sz="1300" b="0" i="0">
                <a:solidFill>
                  <a:srgbClr val="F7F4EF"/>
                </a:solidFill>
                <a:latin typeface="Calibri"/>
              </a:rPr>
              <a:t>• XIOFS_IOC_GPU_READ/WRITE exist. They return “not supported” until an RDMA transport is written.</a:t>
            </a:r>
          </a:p>
        </p:txBody>
      </p:sp>
      <p:graphicFrame>
        <p:nvGraphicFramePr>
          <p:cNvPr id="21" name="Table 20"/>
          <p:cNvGraphicFramePr>
            <a:graphicFrameLocks noGrp="1"/>
          </p:cNvGraphicFramePr>
          <p:nvPr/>
        </p:nvGraphicFramePr>
        <p:xfrm>
          <a:off x="502920" y="3931920"/>
          <a:ext cx="11155680" cy="2331720"/>
        </p:xfrm>
        <a:graphic>
          <a:graphicData uri="http://schemas.openxmlformats.org/drawingml/2006/table">
            <a:tbl>
              <a:tblPr firstRow="1" bandRow="1">
                <a:tableStyleId>{5C22544A-7EE6-4342-B048-85BDC9FD1C3A}</a:tableStyleId>
              </a:tblPr>
              <a:tblGrid>
                <a:gridCol w="5029200"/>
                <a:gridCol w="6126480"/>
              </a:tblGrid>
              <a:tr h="388620">
                <a:tc>
                  <a:txBody>
                    <a:bodyPr wrap="square"/>
                    <a:lstStyle/>
                    <a:p>
                      <a:pPr algn="l"/>
                      <a:r>
                        <a:rPr sz="1100" b="1" i="0">
                          <a:solidFill>
                            <a:srgbClr val="B8923A"/>
                          </a:solidFill>
                          <a:latin typeface="Calibri"/>
                        </a:rPr>
                        <a:t>POSIX</a:t>
                      </a:r>
                    </a:p>
                  </a:txBody>
                  <a:tcPr>
                    <a:solidFill>
                      <a:srgbClr val="1E1810"/>
                    </a:solidFill>
                  </a:tcPr>
                </a:tc>
                <a:tc>
                  <a:txBody>
                    <a:bodyPr wrap="square"/>
                    <a:lstStyle/>
                    <a:p>
                      <a:pPr algn="l"/>
                      <a:r>
                        <a:rPr sz="1100" b="1" i="0">
                          <a:solidFill>
                            <a:srgbClr val="B8923A"/>
                          </a:solidFill>
                          <a:latin typeface="Calibri"/>
                        </a:rPr>
                        <a:t>HTTP method</a:t>
                      </a:r>
                    </a:p>
                  </a:txBody>
                  <a:tcPr>
                    <a:solidFill>
                      <a:srgbClr val="1E1810"/>
                    </a:solidFill>
                  </a:tcPr>
                </a:tc>
              </a:tr>
              <a:tr h="388620">
                <a:tc>
                  <a:txBody>
                    <a:bodyPr wrap="square"/>
                    <a:lstStyle/>
                    <a:p>
                      <a:pPr algn="l"/>
                      <a:r>
                        <a:rPr sz="1200" b="0" i="0">
                          <a:solidFill>
                            <a:srgbClr val="F7F4EF"/>
                          </a:solidFill>
                          <a:latin typeface="Calibri"/>
                        </a:rPr>
                        <a:t>stat / readdir</a:t>
                      </a:r>
                    </a:p>
                  </a:txBody>
                  <a:tcPr>
                    <a:solidFill>
                      <a:srgbClr val="161416"/>
                    </a:solidFill>
                  </a:tcPr>
                </a:tc>
                <a:tc>
                  <a:txBody>
                    <a:bodyPr wrap="square"/>
                    <a:lstStyle/>
                    <a:p>
                      <a:pPr algn="l"/>
                      <a:r>
                        <a:rPr sz="1200" b="0" i="0">
                          <a:solidFill>
                            <a:srgbClr val="F7F4EF"/>
                          </a:solidFill>
                          <a:latin typeface="Calibri"/>
                        </a:rPr>
                        <a:t>PROPFIND</a:t>
                      </a:r>
                    </a:p>
                  </a:txBody>
                  <a:tcPr>
                    <a:solidFill>
                      <a:srgbClr val="161416"/>
                    </a:solidFill>
                  </a:tcPr>
                </a:tc>
              </a:tr>
              <a:tr h="388620">
                <a:tc>
                  <a:txBody>
                    <a:bodyPr wrap="square"/>
                    <a:lstStyle/>
                    <a:p>
                      <a:pPr algn="l"/>
                      <a:r>
                        <a:rPr sz="1200" b="0" i="0">
                          <a:solidFill>
                            <a:srgbClr val="F7F4EF"/>
                          </a:solidFill>
                          <a:latin typeface="Calibri"/>
                        </a:rPr>
                        <a:t>read</a:t>
                      </a:r>
                    </a:p>
                  </a:txBody>
                  <a:tcPr>
                    <a:solidFill>
                      <a:srgbClr val="161416"/>
                    </a:solidFill>
                  </a:tcPr>
                </a:tc>
                <a:tc>
                  <a:txBody>
                    <a:bodyPr wrap="square"/>
                    <a:lstStyle/>
                    <a:p>
                      <a:pPr algn="l"/>
                      <a:r>
                        <a:rPr sz="1200" b="0" i="0">
                          <a:solidFill>
                            <a:srgbClr val="F7F4EF"/>
                          </a:solidFill>
                          <a:latin typeface="Calibri"/>
                        </a:rPr>
                        <a:t>GET with Range</a:t>
                      </a:r>
                    </a:p>
                  </a:txBody>
                  <a:tcPr>
                    <a:solidFill>
                      <a:srgbClr val="161416"/>
                    </a:solidFill>
                  </a:tcPr>
                </a:tc>
              </a:tr>
              <a:tr h="388620">
                <a:tc>
                  <a:txBody>
                    <a:bodyPr wrap="square"/>
                    <a:lstStyle/>
                    <a:p>
                      <a:pPr algn="l"/>
                      <a:r>
                        <a:rPr sz="1200" b="0" i="0">
                          <a:solidFill>
                            <a:srgbClr val="F7F4EF"/>
                          </a:solidFill>
                          <a:latin typeface="Calibri"/>
                        </a:rPr>
                        <a:t>pwrite / writeback</a:t>
                      </a:r>
                    </a:p>
                  </a:txBody>
                  <a:tcPr>
                    <a:solidFill>
                      <a:srgbClr val="161416"/>
                    </a:solidFill>
                  </a:tcPr>
                </a:tc>
                <a:tc>
                  <a:txBody>
                    <a:bodyPr wrap="square"/>
                    <a:lstStyle/>
                    <a:p>
                      <a:pPr algn="l"/>
                      <a:r>
                        <a:rPr sz="1200" b="0" i="0">
                          <a:solidFill>
                            <a:srgbClr val="F7F4EF"/>
                          </a:solidFill>
                          <a:latin typeface="Calibri"/>
                        </a:rPr>
                        <a:t>PATCH with Content-Range and If-Match</a:t>
                      </a:r>
                    </a:p>
                  </a:txBody>
                  <a:tcPr>
                    <a:solidFill>
                      <a:srgbClr val="161416"/>
                    </a:solidFill>
                  </a:tcPr>
                </a:tc>
              </a:tr>
              <a:tr h="388620">
                <a:tc>
                  <a:txBody>
                    <a:bodyPr wrap="square"/>
                    <a:lstStyle/>
                    <a:p>
                      <a:pPr algn="l"/>
                      <a:r>
                        <a:rPr sz="1200" b="0" i="0">
                          <a:solidFill>
                            <a:srgbClr val="F7F4EF"/>
                          </a:solidFill>
                          <a:latin typeface="Calibri"/>
                        </a:rPr>
                        <a:t>create / mkdir / unlink / rename</a:t>
                      </a:r>
                    </a:p>
                  </a:txBody>
                  <a:tcPr>
                    <a:solidFill>
                      <a:srgbClr val="161416"/>
                    </a:solidFill>
                  </a:tcPr>
                </a:tc>
                <a:tc>
                  <a:txBody>
                    <a:bodyPr wrap="square"/>
                    <a:lstStyle/>
                    <a:p>
                      <a:pPr algn="l"/>
                      <a:r>
                        <a:rPr sz="1200" b="0" i="0">
                          <a:solidFill>
                            <a:srgbClr val="F7F4EF"/>
                          </a:solidFill>
                          <a:latin typeface="Calibri"/>
                        </a:rPr>
                        <a:t>PUT / MKCOL / DELETE / MOVE</a:t>
                      </a:r>
                    </a:p>
                  </a:txBody>
                  <a:tcPr>
                    <a:solidFill>
                      <a:srgbClr val="161416"/>
                    </a:solidFill>
                  </a:tcPr>
                </a:tc>
              </a:tr>
              <a:tr h="388620">
                <a:tc>
                  <a:txBody>
                    <a:bodyPr wrap="square"/>
                    <a:lstStyle/>
                    <a:p>
                      <a:pPr algn="l"/>
                      <a:r>
                        <a:rPr sz="1200" b="0" i="0">
                          <a:solidFill>
                            <a:srgbClr val="F7F4EF"/>
                          </a:solidFill>
                          <a:latin typeface="Calibri"/>
                        </a:rPr>
                        <a:t>chmod / hard link</a:t>
                      </a:r>
                    </a:p>
                  </a:txBody>
                  <a:tcPr>
                    <a:solidFill>
                      <a:srgbClr val="161416"/>
                    </a:solidFill>
                  </a:tcPr>
                </a:tc>
                <a:tc>
                  <a:txBody>
                    <a:bodyPr wrap="square"/>
                    <a:lstStyle/>
                    <a:p>
                      <a:pPr algn="l"/>
                      <a:r>
                        <a:rPr sz="1200" b="0" i="0">
                          <a:solidFill>
                            <a:srgbClr val="F7F4EF"/>
                          </a:solidFill>
                          <a:latin typeface="Calibri"/>
                        </a:rPr>
                        <a:t>PROPPATCH / LINK</a:t>
                      </a:r>
                    </a:p>
                  </a:txBody>
                  <a:tcPr>
                    <a:solidFill>
                      <a:srgbClr val="161416"/>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16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KERNEL MOUNT</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Handshake in userspace, data path in the kernel</a:t>
            </a:r>
          </a:p>
        </p:txBody>
      </p:sp>
      <p:sp>
        <p:nvSpPr>
          <p:cNvPr id="9" name="TextBox 8"/>
          <p:cNvSpPr txBox="1"/>
          <p:nvPr/>
        </p:nvSpPr>
        <p:spPr>
          <a:xfrm>
            <a:off x="502920" y="1783080"/>
            <a:ext cx="10972800" cy="256032"/>
          </a:xfrm>
          <a:prstGeom prst="rect">
            <a:avLst/>
          </a:prstGeom>
          <a:noFill/>
        </p:spPr>
        <p:txBody>
          <a:bodyPr wrap="square">
            <a:spAutoFit/>
          </a:bodyPr>
          <a:lstStyle/>
          <a:p>
            <a:pPr algn="l"/>
            <a:r>
              <a:rPr sz="1200" b="1" i="0">
                <a:solidFill>
                  <a:srgbClr val="E8A0BF"/>
                </a:solidFill>
                <a:latin typeface="Calibri"/>
              </a:rPr>
              <a:t>Once per mount</a:t>
            </a:r>
          </a:p>
        </p:txBody>
      </p:sp>
      <p:sp>
        <p:nvSpPr>
          <p:cNvPr id="10" name="Rounded Rectangle 9"/>
          <p:cNvSpPr/>
          <p:nvPr/>
        </p:nvSpPr>
        <p:spPr>
          <a:xfrm>
            <a:off x="411480" y="2057400"/>
            <a:ext cx="3566160" cy="13258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 y="2148840"/>
            <a:ext cx="3346704" cy="292608"/>
          </a:xfrm>
          <a:prstGeom prst="rect">
            <a:avLst/>
          </a:prstGeom>
          <a:noFill/>
        </p:spPr>
        <p:txBody>
          <a:bodyPr wrap="square">
            <a:spAutoFit/>
          </a:bodyPr>
          <a:lstStyle/>
          <a:p>
            <a:pPr algn="l"/>
            <a:r>
              <a:rPr sz="1500" b="1" i="0">
                <a:solidFill>
                  <a:srgbClr val="B8923A"/>
                </a:solidFill>
                <a:latin typeface="Calibri"/>
              </a:rPr>
              <a:t>xiofsagent</a:t>
            </a:r>
          </a:p>
        </p:txBody>
      </p:sp>
      <p:sp>
        <p:nvSpPr>
          <p:cNvPr id="12" name="TextBox 11"/>
          <p:cNvSpPr txBox="1"/>
          <p:nvPr/>
        </p:nvSpPr>
        <p:spPr>
          <a:xfrm>
            <a:off x="521208" y="2459736"/>
            <a:ext cx="3346704" cy="832104"/>
          </a:xfrm>
          <a:prstGeom prst="rect">
            <a:avLst/>
          </a:prstGeom>
          <a:noFill/>
        </p:spPr>
        <p:txBody>
          <a:bodyPr wrap="square">
            <a:spAutoFit/>
          </a:bodyPr>
          <a:lstStyle/>
          <a:p>
            <a:pPr>
              <a:spcAft>
                <a:spcPts val="400"/>
              </a:spcAft>
            </a:pPr>
            <a:r>
              <a:rPr sz="1300" b="0" i="0">
                <a:solidFill>
                  <a:srgbClr val="F7F4EF"/>
                </a:solidFill>
                <a:latin typeface="Calibri"/>
              </a:rPr>
              <a:t>• OpenSSL handshake</a:t>
            </a:r>
          </a:p>
        </p:txBody>
      </p:sp>
      <p:sp>
        <p:nvSpPr>
          <p:cNvPr id="13" name="Rounded Rectangle 12"/>
          <p:cNvSpPr/>
          <p:nvPr/>
        </p:nvSpPr>
        <p:spPr>
          <a:xfrm>
            <a:off x="4297680" y="2057400"/>
            <a:ext cx="3566160" cy="13258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8" y="2148840"/>
            <a:ext cx="3346704" cy="292608"/>
          </a:xfrm>
          <a:prstGeom prst="rect">
            <a:avLst/>
          </a:prstGeom>
          <a:noFill/>
        </p:spPr>
        <p:txBody>
          <a:bodyPr wrap="square">
            <a:spAutoFit/>
          </a:bodyPr>
          <a:lstStyle/>
          <a:p>
            <a:pPr algn="l"/>
            <a:r>
              <a:rPr sz="1500" b="1" i="0">
                <a:solidFill>
                  <a:srgbClr val="B8923A"/>
                </a:solidFill>
                <a:latin typeface="Calibri"/>
              </a:rPr>
              <a:t>kTLS on the socket</a:t>
            </a:r>
          </a:p>
        </p:txBody>
      </p:sp>
      <p:sp>
        <p:nvSpPr>
          <p:cNvPr id="15" name="TextBox 14"/>
          <p:cNvSpPr txBox="1"/>
          <p:nvPr/>
        </p:nvSpPr>
        <p:spPr>
          <a:xfrm>
            <a:off x="4407408" y="2459736"/>
            <a:ext cx="3346704" cy="832104"/>
          </a:xfrm>
          <a:prstGeom prst="rect">
            <a:avLst/>
          </a:prstGeom>
          <a:noFill/>
        </p:spPr>
        <p:txBody>
          <a:bodyPr wrap="square">
            <a:spAutoFit/>
          </a:bodyPr>
          <a:lstStyle/>
          <a:p>
            <a:pPr>
              <a:spcAft>
                <a:spcPts val="400"/>
              </a:spcAft>
            </a:pPr>
            <a:r>
              <a:rPr sz="1300" b="0" i="0">
                <a:solidFill>
                  <a:srgbClr val="F7F4EF"/>
                </a:solidFill>
                <a:latin typeface="Calibri"/>
              </a:rPr>
              <a:t>• TLS 1.2 AES-GCM</a:t>
            </a:r>
          </a:p>
        </p:txBody>
      </p:sp>
      <p:sp>
        <p:nvSpPr>
          <p:cNvPr id="16" name="Rounded Rectangle 15"/>
          <p:cNvSpPr/>
          <p:nvPr/>
        </p:nvSpPr>
        <p:spPr>
          <a:xfrm>
            <a:off x="8092440" y="2057400"/>
            <a:ext cx="3566160" cy="13258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02167" y="2148840"/>
            <a:ext cx="3346704" cy="292608"/>
          </a:xfrm>
          <a:prstGeom prst="rect">
            <a:avLst/>
          </a:prstGeom>
          <a:noFill/>
        </p:spPr>
        <p:txBody>
          <a:bodyPr wrap="square">
            <a:spAutoFit/>
          </a:bodyPr>
          <a:lstStyle/>
          <a:p>
            <a:pPr algn="l"/>
            <a:r>
              <a:rPr sz="1500" b="1" i="0">
                <a:solidFill>
                  <a:srgbClr val="B8923A"/>
                </a:solidFill>
                <a:latin typeface="Calibri"/>
              </a:rPr>
              <a:t>ioctl import</a:t>
            </a:r>
          </a:p>
        </p:txBody>
      </p:sp>
      <p:sp>
        <p:nvSpPr>
          <p:cNvPr id="18" name="TextBox 17"/>
          <p:cNvSpPr txBox="1"/>
          <p:nvPr/>
        </p:nvSpPr>
        <p:spPr>
          <a:xfrm>
            <a:off x="8202167" y="2459736"/>
            <a:ext cx="3346704" cy="832104"/>
          </a:xfrm>
          <a:prstGeom prst="rect">
            <a:avLst/>
          </a:prstGeom>
          <a:noFill/>
        </p:spPr>
        <p:txBody>
          <a:bodyPr wrap="square">
            <a:spAutoFit/>
          </a:bodyPr>
          <a:lstStyle/>
          <a:p>
            <a:pPr>
              <a:spcAft>
                <a:spcPts val="400"/>
              </a:spcAft>
            </a:pPr>
            <a:r>
              <a:rPr sz="1300" b="0" i="0">
                <a:solidFill>
                  <a:srgbClr val="F7F4EF"/>
                </a:solidFill>
                <a:latin typeface="Calibri"/>
              </a:rPr>
              <a:t>• /dev/xiofsctl</a:t>
            </a:r>
          </a:p>
        </p:txBody>
      </p:sp>
      <p:sp>
        <p:nvSpPr>
          <p:cNvPr id="19" name="TextBox 18"/>
          <p:cNvSpPr txBox="1"/>
          <p:nvPr/>
        </p:nvSpPr>
        <p:spPr>
          <a:xfrm>
            <a:off x="502920" y="3520440"/>
            <a:ext cx="10972800" cy="256032"/>
          </a:xfrm>
          <a:prstGeom prst="rect">
            <a:avLst/>
          </a:prstGeom>
          <a:noFill/>
        </p:spPr>
        <p:txBody>
          <a:bodyPr wrap="square">
            <a:spAutoFit/>
          </a:bodyPr>
          <a:lstStyle/>
          <a:p>
            <a:pPr algn="l"/>
            <a:r>
              <a:rPr sz="1200" b="1" i="0">
                <a:solidFill>
                  <a:srgbClr val="B8923A"/>
                </a:solidFill>
                <a:latin typeface="Calibri"/>
              </a:rPr>
              <a:t>Every read / write / mmap</a:t>
            </a:r>
          </a:p>
        </p:txBody>
      </p:sp>
      <p:sp>
        <p:nvSpPr>
          <p:cNvPr id="20" name="Rounded Rectangle 19"/>
          <p:cNvSpPr/>
          <p:nvPr/>
        </p:nvSpPr>
        <p:spPr>
          <a:xfrm>
            <a:off x="320040" y="3794760"/>
            <a:ext cx="2194560" cy="141732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8" y="3886200"/>
            <a:ext cx="1975104" cy="292608"/>
          </a:xfrm>
          <a:prstGeom prst="rect">
            <a:avLst/>
          </a:prstGeom>
          <a:noFill/>
        </p:spPr>
        <p:txBody>
          <a:bodyPr wrap="square">
            <a:spAutoFit/>
          </a:bodyPr>
          <a:lstStyle/>
          <a:p>
            <a:pPr algn="l"/>
            <a:r>
              <a:rPr sz="1500" b="1" i="0">
                <a:solidFill>
                  <a:srgbClr val="B8923A"/>
                </a:solidFill>
                <a:latin typeface="Calibri"/>
              </a:rPr>
              <a:t>app</a:t>
            </a:r>
          </a:p>
        </p:txBody>
      </p:sp>
      <p:sp>
        <p:nvSpPr>
          <p:cNvPr id="22" name="TextBox 21"/>
          <p:cNvSpPr txBox="1"/>
          <p:nvPr/>
        </p:nvSpPr>
        <p:spPr>
          <a:xfrm>
            <a:off x="429768" y="4197096"/>
            <a:ext cx="1975104" cy="923544"/>
          </a:xfrm>
          <a:prstGeom prst="rect">
            <a:avLst/>
          </a:prstGeom>
          <a:noFill/>
        </p:spPr>
        <p:txBody>
          <a:bodyPr wrap="square">
            <a:spAutoFit/>
          </a:bodyPr>
          <a:lstStyle/>
          <a:p>
            <a:pPr>
              <a:spcAft>
                <a:spcPts val="400"/>
              </a:spcAft>
            </a:pPr>
            <a:r>
              <a:rPr sz="1300" b="0" i="0">
                <a:solidFill>
                  <a:srgbClr val="F7F4EF"/>
                </a:solidFill>
                <a:latin typeface="Calibri"/>
              </a:rPr>
              <a:t>• POSIX</a:t>
            </a:r>
          </a:p>
        </p:txBody>
      </p:sp>
      <p:sp>
        <p:nvSpPr>
          <p:cNvPr id="23" name="Rounded Rectangle 22"/>
          <p:cNvSpPr/>
          <p:nvPr/>
        </p:nvSpPr>
        <p:spPr>
          <a:xfrm>
            <a:off x="2606040" y="3794760"/>
            <a:ext cx="2194560" cy="141732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15768" y="3886200"/>
            <a:ext cx="1975104" cy="292608"/>
          </a:xfrm>
          <a:prstGeom prst="rect">
            <a:avLst/>
          </a:prstGeom>
          <a:noFill/>
        </p:spPr>
        <p:txBody>
          <a:bodyPr wrap="square">
            <a:spAutoFit/>
          </a:bodyPr>
          <a:lstStyle/>
          <a:p>
            <a:pPr algn="l"/>
            <a:r>
              <a:rPr sz="1500" b="1" i="0">
                <a:solidFill>
                  <a:srgbClr val="B8923A"/>
                </a:solidFill>
                <a:latin typeface="Calibri"/>
              </a:rPr>
              <a:t>page cache</a:t>
            </a:r>
          </a:p>
        </p:txBody>
      </p:sp>
      <p:sp>
        <p:nvSpPr>
          <p:cNvPr id="25" name="TextBox 24"/>
          <p:cNvSpPr txBox="1"/>
          <p:nvPr/>
        </p:nvSpPr>
        <p:spPr>
          <a:xfrm>
            <a:off x="2715768" y="4197096"/>
            <a:ext cx="1975104" cy="923544"/>
          </a:xfrm>
          <a:prstGeom prst="rect">
            <a:avLst/>
          </a:prstGeom>
          <a:noFill/>
        </p:spPr>
        <p:txBody>
          <a:bodyPr wrap="square">
            <a:spAutoFit/>
          </a:bodyPr>
          <a:lstStyle/>
          <a:p>
            <a:pPr>
              <a:spcAft>
                <a:spcPts val="400"/>
              </a:spcAft>
            </a:pPr>
            <a:r>
              <a:rPr sz="1300" b="0" i="0">
                <a:solidFill>
                  <a:srgbClr val="F7F4EF"/>
                </a:solidFill>
                <a:latin typeface="Calibri"/>
              </a:rPr>
              <a:t>• readahead / writeback</a:t>
            </a:r>
          </a:p>
        </p:txBody>
      </p:sp>
      <p:sp>
        <p:nvSpPr>
          <p:cNvPr id="26" name="Rounded Rectangle 25"/>
          <p:cNvSpPr/>
          <p:nvPr/>
        </p:nvSpPr>
        <p:spPr>
          <a:xfrm>
            <a:off x="4892040" y="3794760"/>
            <a:ext cx="2194560" cy="141732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01768" y="3886200"/>
            <a:ext cx="1975104" cy="292608"/>
          </a:xfrm>
          <a:prstGeom prst="rect">
            <a:avLst/>
          </a:prstGeom>
          <a:noFill/>
        </p:spPr>
        <p:txBody>
          <a:bodyPr wrap="square">
            <a:spAutoFit/>
          </a:bodyPr>
          <a:lstStyle/>
          <a:p>
            <a:pPr algn="l"/>
            <a:r>
              <a:rPr sz="1500" b="1" i="0">
                <a:solidFill>
                  <a:srgbClr val="B8923A"/>
                </a:solidFill>
                <a:latin typeface="Calibri"/>
              </a:rPr>
              <a:t>xiofs.ko</a:t>
            </a:r>
          </a:p>
        </p:txBody>
      </p:sp>
      <p:sp>
        <p:nvSpPr>
          <p:cNvPr id="28" name="TextBox 27"/>
          <p:cNvSpPr txBox="1"/>
          <p:nvPr/>
        </p:nvSpPr>
        <p:spPr>
          <a:xfrm>
            <a:off x="5001768" y="4197096"/>
            <a:ext cx="1975104" cy="923544"/>
          </a:xfrm>
          <a:prstGeom prst="rect">
            <a:avLst/>
          </a:prstGeom>
          <a:noFill/>
        </p:spPr>
        <p:txBody>
          <a:bodyPr wrap="square">
            <a:spAutoFit/>
          </a:bodyPr>
          <a:lstStyle/>
          <a:p>
            <a:pPr>
              <a:spcAft>
                <a:spcPts val="400"/>
              </a:spcAft>
            </a:pPr>
            <a:r>
              <a:rPr sz="1300" b="0" i="0">
                <a:solidFill>
                  <a:srgbClr val="F7F4EF"/>
                </a:solidFill>
                <a:latin typeface="Calibri"/>
              </a:rPr>
              <a:t>• HTTP/1.1</a:t>
            </a:r>
          </a:p>
        </p:txBody>
      </p:sp>
      <p:sp>
        <p:nvSpPr>
          <p:cNvPr id="29" name="Rounded Rectangle 28"/>
          <p:cNvSpPr/>
          <p:nvPr/>
        </p:nvSpPr>
        <p:spPr>
          <a:xfrm>
            <a:off x="7178040" y="3794760"/>
            <a:ext cx="2194560" cy="141732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87768" y="3886200"/>
            <a:ext cx="1975104" cy="292608"/>
          </a:xfrm>
          <a:prstGeom prst="rect">
            <a:avLst/>
          </a:prstGeom>
          <a:noFill/>
        </p:spPr>
        <p:txBody>
          <a:bodyPr wrap="square">
            <a:spAutoFit/>
          </a:bodyPr>
          <a:lstStyle/>
          <a:p>
            <a:pPr algn="l"/>
            <a:r>
              <a:rPr sz="1500" b="1" i="0">
                <a:solidFill>
                  <a:srgbClr val="B8923A"/>
                </a:solidFill>
                <a:latin typeface="Calibri"/>
              </a:rPr>
              <a:t>kTLS + TCP</a:t>
            </a:r>
          </a:p>
        </p:txBody>
      </p:sp>
      <p:sp>
        <p:nvSpPr>
          <p:cNvPr id="31" name="TextBox 30"/>
          <p:cNvSpPr txBox="1"/>
          <p:nvPr/>
        </p:nvSpPr>
        <p:spPr>
          <a:xfrm>
            <a:off x="7287768" y="4197096"/>
            <a:ext cx="1975104" cy="923544"/>
          </a:xfrm>
          <a:prstGeom prst="rect">
            <a:avLst/>
          </a:prstGeom>
          <a:noFill/>
        </p:spPr>
        <p:txBody>
          <a:bodyPr wrap="square">
            <a:spAutoFit/>
          </a:bodyPr>
          <a:lstStyle/>
          <a:p>
            <a:pPr>
              <a:spcAft>
                <a:spcPts val="400"/>
              </a:spcAft>
            </a:pPr>
            <a:r>
              <a:rPr sz="1300" b="0" i="0">
                <a:solidFill>
                  <a:srgbClr val="F7F4EF"/>
                </a:solidFill>
                <a:latin typeface="Calibri"/>
              </a:rPr>
              <a:t>• no extra copy</a:t>
            </a:r>
          </a:p>
        </p:txBody>
      </p:sp>
      <p:sp>
        <p:nvSpPr>
          <p:cNvPr id="32" name="Rounded Rectangle 31"/>
          <p:cNvSpPr/>
          <p:nvPr/>
        </p:nvSpPr>
        <p:spPr>
          <a:xfrm>
            <a:off x="9464040" y="3794760"/>
            <a:ext cx="2240280" cy="141732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73767" y="3886200"/>
            <a:ext cx="2020824" cy="292608"/>
          </a:xfrm>
          <a:prstGeom prst="rect">
            <a:avLst/>
          </a:prstGeom>
          <a:noFill/>
        </p:spPr>
        <p:txBody>
          <a:bodyPr wrap="square">
            <a:spAutoFit/>
          </a:bodyPr>
          <a:lstStyle/>
          <a:p>
            <a:pPr algn="l"/>
            <a:r>
              <a:rPr sz="1500" b="1" i="0">
                <a:solidFill>
                  <a:srgbClr val="B8923A"/>
                </a:solidFill>
                <a:latin typeface="Calibri"/>
              </a:rPr>
              <a:t>XrdHTTP</a:t>
            </a:r>
          </a:p>
        </p:txBody>
      </p:sp>
      <p:sp>
        <p:nvSpPr>
          <p:cNvPr id="34" name="TextBox 33"/>
          <p:cNvSpPr txBox="1"/>
          <p:nvPr/>
        </p:nvSpPr>
        <p:spPr>
          <a:xfrm>
            <a:off x="9573767" y="4197096"/>
            <a:ext cx="2020824" cy="923544"/>
          </a:xfrm>
          <a:prstGeom prst="rect">
            <a:avLst/>
          </a:prstGeom>
          <a:noFill/>
        </p:spPr>
        <p:txBody>
          <a:bodyPr wrap="square">
            <a:spAutoFit/>
          </a:bodyPr>
          <a:lstStyle/>
          <a:p>
            <a:pPr>
              <a:spcAft>
                <a:spcPts val="400"/>
              </a:spcAft>
            </a:pPr>
            <a:r>
              <a:rPr sz="1300" b="0" i="0">
                <a:solidFill>
                  <a:srgbClr val="F7F4EF"/>
                </a:solidFill>
                <a:latin typeface="Calibri"/>
              </a:rPr>
              <a:t>• server</a:t>
            </a:r>
          </a:p>
        </p:txBody>
      </p:sp>
      <p:sp>
        <p:nvSpPr>
          <p:cNvPr id="35" name="TextBox 34"/>
          <p:cNvSpPr txBox="1"/>
          <p:nvPr/>
        </p:nvSpPr>
        <p:spPr>
          <a:xfrm>
            <a:off x="502920" y="5349240"/>
            <a:ext cx="11155680" cy="640080"/>
          </a:xfrm>
          <a:prstGeom prst="rect">
            <a:avLst/>
          </a:prstGeom>
          <a:noFill/>
        </p:spPr>
        <p:txBody>
          <a:bodyPr wrap="square">
            <a:spAutoFit/>
          </a:bodyPr>
          <a:lstStyle/>
          <a:p>
            <a:pPr algn="l"/>
            <a:r>
              <a:rPr sz="1400" b="0" i="0">
                <a:solidFill>
                  <a:srgbClr val="C9BFB6"/>
                </a:solidFill>
                <a:latin typeface="Calibri"/>
              </a:rPr>
              <a:t>AlmaLinux 9 and 10. One socket, so no HTTP/2 multiplex in-kernel. If the socket drops, run xiofsagent --import-only again.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17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TESTS</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New CTest coverage - all of these pass</a:t>
            </a:r>
          </a:p>
        </p:txBody>
      </p:sp>
      <p:sp>
        <p:nvSpPr>
          <p:cNvPr id="9" name="TextBox 8"/>
          <p:cNvSpPr txBox="1"/>
          <p:nvPr/>
        </p:nvSpPr>
        <p:spPr>
          <a:xfrm>
            <a:off x="502920" y="1737360"/>
            <a:ext cx="11155680" cy="685800"/>
          </a:xfrm>
          <a:prstGeom prst="rect">
            <a:avLst/>
          </a:prstGeom>
          <a:noFill/>
        </p:spPr>
        <p:txBody>
          <a:bodyPr wrap="square">
            <a:spAutoFit/>
          </a:bodyPr>
          <a:lstStyle/>
          <a:p>
            <a:pPr algn="l"/>
            <a:r>
              <a:rPr sz="1600" b="0" i="0">
                <a:solidFill>
                  <a:srgbClr val="C9BFB6"/>
                </a:solidFill>
                <a:latin typeface="Calibri"/>
              </a:rPr>
              <a:t>The existing XRootD::http suite still runs. We added dedicated tests for the parser, HTTP/2, Kerberos, and the XIOFS client. They pass in the current tree (Linux, HTTP/2 and Kerberos enabled).</a:t>
            </a:r>
          </a:p>
        </p:txBody>
      </p:sp>
      <p:graphicFrame>
        <p:nvGraphicFramePr>
          <p:cNvPr id="10" name="Table 9"/>
          <p:cNvGraphicFramePr>
            <a:graphicFrameLocks noGrp="1"/>
          </p:cNvGraphicFramePr>
          <p:nvPr/>
        </p:nvGraphicFramePr>
        <p:xfrm>
          <a:off x="411480" y="2468880"/>
          <a:ext cx="11338560" cy="3383280"/>
        </p:xfrm>
        <a:graphic>
          <a:graphicData uri="http://schemas.openxmlformats.org/drawingml/2006/table">
            <a:tbl>
              <a:tblPr firstRow="1" bandRow="1">
                <a:tableStyleId>{5C22544A-7EE6-4342-B048-85BDC9FD1C3A}</a:tableStyleId>
              </a:tblPr>
              <a:tblGrid>
                <a:gridCol w="3291840"/>
                <a:gridCol w="8046720"/>
              </a:tblGrid>
              <a:tr h="483325">
                <a:tc>
                  <a:txBody>
                    <a:bodyPr wrap="square"/>
                    <a:lstStyle/>
                    <a:p>
                      <a:pPr algn="l"/>
                      <a:r>
                        <a:rPr sz="1100" b="1" i="0">
                          <a:solidFill>
                            <a:srgbClr val="B8923A"/>
                          </a:solidFill>
                          <a:latin typeface="Calibri"/>
                        </a:rPr>
                        <a:t>CTest</a:t>
                      </a:r>
                    </a:p>
                  </a:txBody>
                  <a:tcPr>
                    <a:solidFill>
                      <a:srgbClr val="1E1810"/>
                    </a:solidFill>
                  </a:tcPr>
                </a:tc>
                <a:tc>
                  <a:txBody>
                    <a:bodyPr wrap="square"/>
                    <a:lstStyle/>
                    <a:p>
                      <a:pPr algn="l"/>
                      <a:r>
                        <a:rPr sz="1100" b="1" i="0">
                          <a:solidFill>
                            <a:srgbClr val="B8923A"/>
                          </a:solidFill>
                          <a:latin typeface="Calibri"/>
                        </a:rPr>
                        <a:t>What it covers</a:t>
                      </a:r>
                    </a:p>
                  </a:txBody>
                  <a:tcPr>
                    <a:solidFill>
                      <a:srgbClr val="1E1810"/>
                    </a:solidFill>
                  </a:tcPr>
                </a:tc>
              </a:tr>
              <a:tr h="483325">
                <a:tc>
                  <a:txBody>
                    <a:bodyPr wrap="square"/>
                    <a:lstStyle/>
                    <a:p>
                      <a:pPr algn="l"/>
                      <a:r>
                        <a:rPr sz="1200" b="0" i="0">
                          <a:solidFill>
                            <a:srgbClr val="F7F4EF"/>
                          </a:solidFill>
                          <a:latin typeface="Calibri"/>
                        </a:rPr>
                        <a:t>XRootD::http</a:t>
                      </a:r>
                    </a:p>
                  </a:txBody>
                  <a:tcPr>
                    <a:solidFill>
                      <a:srgbClr val="161416"/>
                    </a:solidFill>
                  </a:tcPr>
                </a:tc>
                <a:tc>
                  <a:txBody>
                    <a:bodyPr wrap="square"/>
                    <a:lstStyle/>
                    <a:p>
                      <a:pPr algn="l"/>
                      <a:r>
                        <a:rPr sz="1200" b="0" i="0">
                          <a:solidFill>
                            <a:srgbClr val="F7F4EF"/>
                          </a:solidFill>
                          <a:latin typeface="Calibri"/>
                        </a:rPr>
                        <a:t>HTTP/1.1 regression, plus PATCH, If-Match, and open-handle reuse</a:t>
                      </a:r>
                    </a:p>
                  </a:txBody>
                  <a:tcPr>
                    <a:solidFill>
                      <a:srgbClr val="161416"/>
                    </a:solidFill>
                  </a:tcPr>
                </a:tc>
              </a:tr>
              <a:tr h="483325">
                <a:tc>
                  <a:txBody>
                    <a:bodyPr wrap="square"/>
                    <a:lstStyle/>
                    <a:p>
                      <a:pPr algn="l"/>
                      <a:r>
                        <a:rPr sz="1200" b="0" i="0">
                          <a:solidFill>
                            <a:srgbClr val="F7F4EF"/>
                          </a:solidFill>
                          <a:latin typeface="Calibri"/>
                        </a:rPr>
                        <a:t>XRootD::httpparser</a:t>
                      </a:r>
                    </a:p>
                  </a:txBody>
                  <a:tcPr>
                    <a:solidFill>
                      <a:srgbClr val="161416"/>
                    </a:solidFill>
                  </a:tcPr>
                </a:tc>
                <a:tc>
                  <a:txBody>
                    <a:bodyPr wrap="square"/>
                    <a:lstStyle/>
                    <a:p>
                      <a:pPr algn="l"/>
                      <a:r>
                        <a:rPr sz="1200" b="0" i="0">
                          <a:solidFill>
                            <a:srgbClr val="F7F4EF"/>
                          </a:solidFill>
                          <a:latin typeface="Calibri"/>
                        </a:rPr>
                        <a:t>llhttp headers, keep-alive, header size cap, h2c preface / Upgrade</a:t>
                      </a:r>
                    </a:p>
                  </a:txBody>
                  <a:tcPr>
                    <a:solidFill>
                      <a:srgbClr val="161416"/>
                    </a:solidFill>
                  </a:tcPr>
                </a:tc>
              </a:tr>
              <a:tr h="483325">
                <a:tc>
                  <a:txBody>
                    <a:bodyPr wrap="square"/>
                    <a:lstStyle/>
                    <a:p>
                      <a:pPr algn="l"/>
                      <a:r>
                        <a:rPr sz="1200" b="0" i="0">
                          <a:solidFill>
                            <a:srgbClr val="F7F4EF"/>
                          </a:solidFill>
                          <a:latin typeface="Calibri"/>
                        </a:rPr>
                        <a:t>XRootD::httpparserlegacy</a:t>
                      </a:r>
                    </a:p>
                  </a:txBody>
                  <a:tcPr>
                    <a:solidFill>
                      <a:srgbClr val="161416"/>
                    </a:solidFill>
                  </a:tcPr>
                </a:tc>
                <a:tc>
                  <a:txBody>
                    <a:bodyPr wrap="square"/>
                    <a:lstStyle/>
                    <a:p>
                      <a:pPr algn="l"/>
                      <a:r>
                        <a:rPr sz="1200" b="0" i="0">
                          <a:solidFill>
                            <a:srgbClr val="F7F4EF"/>
                          </a:solidFill>
                          <a:latin typeface="Calibri"/>
                        </a:rPr>
                        <a:t>Same checks on http.parser legacy</a:t>
                      </a:r>
                    </a:p>
                  </a:txBody>
                  <a:tcPr>
                    <a:solidFill>
                      <a:srgbClr val="161416"/>
                    </a:solidFill>
                  </a:tcPr>
                </a:tc>
              </a:tr>
              <a:tr h="483325">
                <a:tc>
                  <a:txBody>
                    <a:bodyPr wrap="square"/>
                    <a:lstStyle/>
                    <a:p>
                      <a:pPr algn="l"/>
                      <a:r>
                        <a:rPr sz="1200" b="0" i="0">
                          <a:solidFill>
                            <a:srgbClr val="F7F4EF"/>
                          </a:solidFill>
                          <a:latin typeface="Calibri"/>
                        </a:rPr>
                        <a:t>XRootD::httph2</a:t>
                      </a:r>
                    </a:p>
                  </a:txBody>
                  <a:tcPr>
                    <a:solidFill>
                      <a:srgbClr val="161416"/>
                    </a:solidFill>
                  </a:tcPr>
                </a:tc>
                <a:tc>
                  <a:txBody>
                    <a:bodyPr wrap="square"/>
                    <a:lstStyle/>
                    <a:p>
                      <a:pPr algn="l"/>
                      <a:r>
                        <a:rPr sz="1200" b="0" i="0">
                          <a:solidFill>
                            <a:srgbClr val="F7F4EF"/>
                          </a:solidFill>
                          <a:latin typeface="Calibri"/>
                        </a:rPr>
                        <a:t>HTTPS ALPN h2: GET/PUT/HEAD/DELETE, ranges, PATCH, multiplex, push, xiofscli</a:t>
                      </a:r>
                    </a:p>
                  </a:txBody>
                  <a:tcPr>
                    <a:solidFill>
                      <a:srgbClr val="161416"/>
                    </a:solidFill>
                  </a:tcPr>
                </a:tc>
              </a:tr>
              <a:tr h="483325">
                <a:tc>
                  <a:txBody>
                    <a:bodyPr wrap="square"/>
                    <a:lstStyle/>
                    <a:p>
                      <a:pPr algn="l"/>
                      <a:r>
                        <a:rPr sz="1200" b="0" i="0">
                          <a:solidFill>
                            <a:srgbClr val="F7F4EF"/>
                          </a:solidFill>
                          <a:latin typeface="Calibri"/>
                        </a:rPr>
                        <a:t>XRootD::httpkrb5</a:t>
                      </a:r>
                    </a:p>
                  </a:txBody>
                  <a:tcPr>
                    <a:solidFill>
                      <a:srgbClr val="161416"/>
                    </a:solidFill>
                  </a:tcPr>
                </a:tc>
                <a:tc>
                  <a:txBody>
                    <a:bodyPr wrap="square"/>
                    <a:lstStyle/>
                    <a:p>
                      <a:pPr algn="l"/>
                      <a:r>
                        <a:rPr sz="1200" b="0" i="0">
                          <a:solidFill>
                            <a:srgbClr val="F7F4EF"/>
                          </a:solidFill>
                          <a:latin typeface="Calibri"/>
                        </a:rPr>
                        <a:t>SPNEGO upload/download/HEAD; unauthenticated requests rejected</a:t>
                      </a:r>
                    </a:p>
                  </a:txBody>
                  <a:tcPr>
                    <a:solidFill>
                      <a:srgbClr val="161416"/>
                    </a:solidFill>
                  </a:tcPr>
                </a:tc>
              </a:tr>
              <a:tr h="483330">
                <a:tc>
                  <a:txBody>
                    <a:bodyPr wrap="square"/>
                    <a:lstStyle/>
                    <a:p>
                      <a:pPr algn="l"/>
                      <a:r>
                        <a:rPr sz="1200" b="0" i="0">
                          <a:solidFill>
                            <a:srgbClr val="F7F4EF"/>
                          </a:solidFill>
                          <a:latin typeface="Calibri"/>
                        </a:rPr>
                        <a:t>xrdxiofs-unit-tests</a:t>
                      </a:r>
                    </a:p>
                  </a:txBody>
                  <a:tcPr>
                    <a:solidFill>
                      <a:srgbClr val="161416"/>
                    </a:solidFill>
                  </a:tcPr>
                </a:tc>
                <a:tc>
                  <a:txBody>
                    <a:bodyPr wrap="square"/>
                    <a:lstStyle/>
                    <a:p>
                      <a:pPr algn="l"/>
                      <a:r>
                        <a:rPr sz="1200" b="0" i="0">
                          <a:solidFill>
                            <a:srgbClr val="F7F4EF"/>
                          </a:solidFill>
                          <a:latin typeface="Calibri"/>
                        </a:rPr>
                        <a:t>URL parsing and PROPFIND/WebDAV response parsing</a:t>
                      </a:r>
                    </a:p>
                  </a:txBody>
                  <a:tcPr>
                    <a:solidFill>
                      <a:srgbClr val="161416"/>
                    </a:solidFill>
                  </a:tcPr>
                </a:tc>
              </a:tr>
            </a:tbl>
          </a:graphicData>
        </a:graphic>
      </p:graphicFrame>
      <p:sp>
        <p:nvSpPr>
          <p:cNvPr id="11" name="TextBox 10"/>
          <p:cNvSpPr txBox="1"/>
          <p:nvPr/>
        </p:nvSpPr>
        <p:spPr>
          <a:xfrm>
            <a:off x="502920" y="5943600"/>
            <a:ext cx="11155680" cy="365760"/>
          </a:xfrm>
          <a:prstGeom prst="rect">
            <a:avLst/>
          </a:prstGeom>
          <a:noFill/>
        </p:spPr>
        <p:txBody>
          <a:bodyPr wrap="square">
            <a:spAutoFit/>
          </a:bodyPr>
          <a:lstStyle/>
          <a:p>
            <a:pPr algn="l"/>
            <a:r>
              <a:rPr sz="1200" b="0" i="0">
                <a:solidFill>
                  <a:srgbClr val="C9BFB6"/>
                </a:solidFill>
                <a:latin typeface="Calibri"/>
              </a:rPr>
              <a:t>ctest -R 'XRootD::(http|httpparser|httph2|httpkrb5)'   ·   httph2 needs TLS; httpkrb5 needs Kerberos + TLS (Linux).</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18 / 19</a:t>
            </a:r>
          </a:p>
        </p:txBody>
      </p:sp>
      <p:sp>
        <p:nvSpPr>
          <p:cNvPr id="7" name="TextBox 6"/>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The native parser still wins</a:t>
            </a:r>
          </a:p>
        </p:txBody>
      </p:sp>
      <p:sp>
        <p:nvSpPr>
          <p:cNvPr id="8" name="TextBox 7"/>
          <p:cNvSpPr txBox="1"/>
          <p:nvPr/>
        </p:nvSpPr>
        <p:spPr>
          <a:xfrm>
            <a:off x="502920" y="1737360"/>
            <a:ext cx="11155680" cy="640080"/>
          </a:xfrm>
          <a:prstGeom prst="rect">
            <a:avLst/>
          </a:prstGeom>
          <a:noFill/>
        </p:spPr>
        <p:txBody>
          <a:bodyPr wrap="square">
            <a:spAutoFit/>
          </a:bodyPr>
          <a:lstStyle/>
          <a:p>
            <a:pPr algn="l"/>
            <a:r>
              <a:rPr sz="1600" b="0" i="0">
                <a:solidFill>
                  <a:srgbClr val="C9BFB6"/>
                </a:solidFill>
                <a:latin typeface="Calibri"/>
              </a:rPr>
              <a:t>Apple Silicon, RelWithDebInfo xrootd, parse compiled -O2. Median of three runs. Parse: 200k iterations of a typical GET. Request loop: one keepalive connection, sequential, local xrootd, cleartext (HTTP/2 = h2c). Same XrdHttpReq after headers.</a:t>
            </a:r>
          </a:p>
        </p:txBody>
      </p:sp>
      <p:graphicFrame>
        <p:nvGraphicFramePr>
          <p:cNvPr id="9" name="Table 8"/>
          <p:cNvGraphicFramePr>
            <a:graphicFrameLocks noGrp="1"/>
          </p:cNvGraphicFramePr>
          <p:nvPr/>
        </p:nvGraphicFramePr>
        <p:xfrm>
          <a:off x="411480" y="2423160"/>
          <a:ext cx="5623560" cy="3063240"/>
        </p:xfrm>
        <a:graphic>
          <a:graphicData uri="http://schemas.openxmlformats.org/drawingml/2006/table">
            <a:tbl>
              <a:tblPr firstRow="1" bandRow="1">
                <a:tableStyleId>{5C22544A-7EE6-4342-B048-85BDC9FD1C3A}</a:tableStyleId>
              </a:tblPr>
              <a:tblGrid>
                <a:gridCol w="3246120"/>
                <a:gridCol w="1143000"/>
                <a:gridCol w="1234440"/>
              </a:tblGrid>
              <a:tr h="510540">
                <a:tc>
                  <a:txBody>
                    <a:bodyPr wrap="square"/>
                    <a:lstStyle/>
                    <a:p>
                      <a:pPr algn="l"/>
                      <a:r>
                        <a:rPr sz="1100" b="1" i="0">
                          <a:solidFill>
                            <a:srgbClr val="B8923A"/>
                          </a:solidFill>
                          <a:latin typeface="Calibri"/>
                        </a:rPr>
                        <a:t>Header parse</a:t>
                      </a:r>
                    </a:p>
                  </a:txBody>
                  <a:tcPr>
                    <a:solidFill>
                      <a:srgbClr val="1E1810"/>
                    </a:solidFill>
                  </a:tcPr>
                </a:tc>
                <a:tc>
                  <a:txBody>
                    <a:bodyPr wrap="square"/>
                    <a:lstStyle/>
                    <a:p>
                      <a:pPr algn="l"/>
                      <a:r>
                        <a:rPr sz="1100" b="1" i="0">
                          <a:solidFill>
                            <a:srgbClr val="B8923A"/>
                          </a:solidFill>
                          <a:latin typeface="Calibri"/>
                        </a:rPr>
                        <a:t>ns/req</a:t>
                      </a:r>
                    </a:p>
                  </a:txBody>
                  <a:tcPr>
                    <a:solidFill>
                      <a:srgbClr val="1E1810"/>
                    </a:solidFill>
                  </a:tcPr>
                </a:tc>
                <a:tc>
                  <a:txBody>
                    <a:bodyPr wrap="square"/>
                    <a:lstStyle/>
                    <a:p>
                      <a:pPr algn="l"/>
                      <a:r>
                        <a:rPr sz="1100" b="1" i="0">
                          <a:solidFill>
                            <a:srgbClr val="B8923A"/>
                          </a:solidFill>
                          <a:latin typeface="Calibri"/>
                        </a:rPr>
                        <a:t>Mreq/s</a:t>
                      </a:r>
                    </a:p>
                  </a:txBody>
                  <a:tcPr>
                    <a:solidFill>
                      <a:srgbClr val="1E1810"/>
                    </a:solidFill>
                  </a:tcPr>
                </a:tc>
              </a:tr>
              <a:tr h="510540">
                <a:tc>
                  <a:txBody>
                    <a:bodyPr wrap="square"/>
                    <a:lstStyle/>
                    <a:p>
                      <a:pPr algn="l"/>
                      <a:r>
                        <a:rPr sz="1200" b="0" i="0">
                          <a:solidFill>
                            <a:srgbClr val="F7F4EF"/>
                          </a:solidFill>
                          <a:latin typeface="Calibri"/>
                        </a:rPr>
                        <a:t>Native typical GET (291 B, 8 hdrs)</a:t>
                      </a:r>
                    </a:p>
                  </a:txBody>
                  <a:tcPr>
                    <a:solidFill>
                      <a:srgbClr val="161416"/>
                    </a:solidFill>
                  </a:tcPr>
                </a:tc>
                <a:tc>
                  <a:txBody>
                    <a:bodyPr wrap="square"/>
                    <a:lstStyle/>
                    <a:p>
                      <a:pPr algn="l"/>
                      <a:r>
                        <a:rPr sz="1200" b="0" i="0">
                          <a:solidFill>
                            <a:srgbClr val="F7F4EF"/>
                          </a:solidFill>
                          <a:latin typeface="Calibri"/>
                        </a:rPr>
                        <a:t>754</a:t>
                      </a:r>
                    </a:p>
                  </a:txBody>
                  <a:tcPr>
                    <a:solidFill>
                      <a:srgbClr val="161416"/>
                    </a:solidFill>
                  </a:tcPr>
                </a:tc>
                <a:tc>
                  <a:txBody>
                    <a:bodyPr wrap="square"/>
                    <a:lstStyle/>
                    <a:p>
                      <a:pPr algn="l"/>
                      <a:r>
                        <a:rPr sz="1200" b="0" i="0">
                          <a:solidFill>
                            <a:srgbClr val="F7F4EF"/>
                          </a:solidFill>
                          <a:latin typeface="Calibri"/>
                        </a:rPr>
                        <a:t>1.33</a:t>
                      </a:r>
                    </a:p>
                  </a:txBody>
                  <a:tcPr>
                    <a:solidFill>
                      <a:srgbClr val="161416"/>
                    </a:solidFill>
                  </a:tcPr>
                </a:tc>
              </a:tr>
              <a:tr h="510540">
                <a:tc>
                  <a:txBody>
                    <a:bodyPr wrap="square"/>
                    <a:lstStyle/>
                    <a:p>
                      <a:pPr algn="l"/>
                      <a:r>
                        <a:rPr sz="1200" b="0" i="0">
                          <a:solidFill>
                            <a:srgbClr val="F7F4EF"/>
                          </a:solidFill>
                          <a:latin typeface="Calibri"/>
                        </a:rPr>
                        <a:t>llhttp typical GET</a:t>
                      </a:r>
                    </a:p>
                  </a:txBody>
                  <a:tcPr>
                    <a:solidFill>
                      <a:srgbClr val="161416"/>
                    </a:solidFill>
                  </a:tcPr>
                </a:tc>
                <a:tc>
                  <a:txBody>
                    <a:bodyPr wrap="square"/>
                    <a:lstStyle/>
                    <a:p>
                      <a:pPr algn="l"/>
                      <a:r>
                        <a:rPr sz="1200" b="0" i="0">
                          <a:solidFill>
                            <a:srgbClr val="F7F4EF"/>
                          </a:solidFill>
                          <a:latin typeface="Calibri"/>
                        </a:rPr>
                        <a:t>822</a:t>
                      </a:r>
                    </a:p>
                  </a:txBody>
                  <a:tcPr>
                    <a:solidFill>
                      <a:srgbClr val="161416"/>
                    </a:solidFill>
                  </a:tcPr>
                </a:tc>
                <a:tc>
                  <a:txBody>
                    <a:bodyPr wrap="square"/>
                    <a:lstStyle/>
                    <a:p>
                      <a:pPr algn="l"/>
                      <a:r>
                        <a:rPr sz="1200" b="0" i="0">
                          <a:solidFill>
                            <a:srgbClr val="F7F4EF"/>
                          </a:solidFill>
                          <a:latin typeface="Calibri"/>
                        </a:rPr>
                        <a:t>1.22</a:t>
                      </a:r>
                    </a:p>
                  </a:txBody>
                  <a:tcPr>
                    <a:solidFill>
                      <a:srgbClr val="161416"/>
                    </a:solidFill>
                  </a:tcPr>
                </a:tc>
              </a:tr>
              <a:tr h="510540">
                <a:tc>
                  <a:txBody>
                    <a:bodyPr wrap="square"/>
                    <a:lstStyle/>
                    <a:p>
                      <a:pPr algn="l"/>
                      <a:r>
                        <a:rPr sz="1200" b="0" i="0">
                          <a:solidFill>
                            <a:srgbClr val="F7F4EF"/>
                          </a:solidFill>
                          <a:latin typeface="Calibri"/>
                        </a:rPr>
                        <a:t>llhttp, 16 B chunks</a:t>
                      </a:r>
                    </a:p>
                  </a:txBody>
                  <a:tcPr>
                    <a:solidFill>
                      <a:srgbClr val="161416"/>
                    </a:solidFill>
                  </a:tcPr>
                </a:tc>
                <a:tc>
                  <a:txBody>
                    <a:bodyPr wrap="square"/>
                    <a:lstStyle/>
                    <a:p>
                      <a:pPr algn="l"/>
                      <a:r>
                        <a:rPr sz="1200" b="0" i="0">
                          <a:solidFill>
                            <a:srgbClr val="F7F4EF"/>
                          </a:solidFill>
                          <a:latin typeface="Calibri"/>
                        </a:rPr>
                        <a:t>1048</a:t>
                      </a:r>
                    </a:p>
                  </a:txBody>
                  <a:tcPr>
                    <a:solidFill>
                      <a:srgbClr val="161416"/>
                    </a:solidFill>
                  </a:tcPr>
                </a:tc>
                <a:tc>
                  <a:txBody>
                    <a:bodyPr wrap="square"/>
                    <a:lstStyle/>
                    <a:p>
                      <a:pPr algn="l"/>
                      <a:r>
                        <a:rPr sz="1200" b="0" i="0">
                          <a:solidFill>
                            <a:srgbClr val="F7F4EF"/>
                          </a:solidFill>
                          <a:latin typeface="Calibri"/>
                        </a:rPr>
                        <a:t>0.95</a:t>
                      </a:r>
                    </a:p>
                  </a:txBody>
                  <a:tcPr>
                    <a:solidFill>
                      <a:srgbClr val="161416"/>
                    </a:solidFill>
                  </a:tcPr>
                </a:tc>
              </a:tr>
              <a:tr h="510540">
                <a:tc>
                  <a:txBody>
                    <a:bodyPr wrap="square"/>
                    <a:lstStyle/>
                    <a:p>
                      <a:pPr algn="l"/>
                      <a:r>
                        <a:rPr sz="1200" b="0" i="0">
                          <a:solidFill>
                            <a:srgbClr val="F7F4EF"/>
                          </a:solidFill>
                          <a:latin typeface="Calibri"/>
                        </a:rPr>
                        <a:t>Native 24 extra headers (1269 B)</a:t>
                      </a:r>
                    </a:p>
                  </a:txBody>
                  <a:tcPr>
                    <a:solidFill>
                      <a:srgbClr val="161416"/>
                    </a:solidFill>
                  </a:tcPr>
                </a:tc>
                <a:tc>
                  <a:txBody>
                    <a:bodyPr wrap="square"/>
                    <a:lstStyle/>
                    <a:p>
                      <a:pPr algn="l"/>
                      <a:r>
                        <a:rPr sz="1200" b="0" i="0">
                          <a:solidFill>
                            <a:srgbClr val="F7F4EF"/>
                          </a:solidFill>
                          <a:latin typeface="Calibri"/>
                        </a:rPr>
                        <a:t>1448</a:t>
                      </a:r>
                    </a:p>
                  </a:txBody>
                  <a:tcPr>
                    <a:solidFill>
                      <a:srgbClr val="161416"/>
                    </a:solidFill>
                  </a:tcPr>
                </a:tc>
                <a:tc>
                  <a:txBody>
                    <a:bodyPr wrap="square"/>
                    <a:lstStyle/>
                    <a:p>
                      <a:pPr algn="l"/>
                      <a:r>
                        <a:rPr sz="1200" b="0" i="0">
                          <a:solidFill>
                            <a:srgbClr val="F7F4EF"/>
                          </a:solidFill>
                          <a:latin typeface="Calibri"/>
                        </a:rPr>
                        <a:t>0.69</a:t>
                      </a:r>
                    </a:p>
                  </a:txBody>
                  <a:tcPr>
                    <a:solidFill>
                      <a:srgbClr val="161416"/>
                    </a:solidFill>
                  </a:tcPr>
                </a:tc>
              </a:tr>
              <a:tr h="510540">
                <a:tc>
                  <a:txBody>
                    <a:bodyPr wrap="square"/>
                    <a:lstStyle/>
                    <a:p>
                      <a:pPr algn="l"/>
                      <a:r>
                        <a:rPr sz="1200" b="0" i="0">
                          <a:solidFill>
                            <a:srgbClr val="F7F4EF"/>
                          </a:solidFill>
                          <a:latin typeface="Calibri"/>
                        </a:rPr>
                        <a:t>llhttp 24 extra headers</a:t>
                      </a:r>
                    </a:p>
                  </a:txBody>
                  <a:tcPr>
                    <a:solidFill>
                      <a:srgbClr val="161416"/>
                    </a:solidFill>
                  </a:tcPr>
                </a:tc>
                <a:tc>
                  <a:txBody>
                    <a:bodyPr wrap="square"/>
                    <a:lstStyle/>
                    <a:p>
                      <a:pPr algn="l"/>
                      <a:r>
                        <a:rPr sz="1200" b="0" i="0">
                          <a:solidFill>
                            <a:srgbClr val="F7F4EF"/>
                          </a:solidFill>
                          <a:latin typeface="Calibri"/>
                        </a:rPr>
                        <a:t>1519</a:t>
                      </a:r>
                    </a:p>
                  </a:txBody>
                  <a:tcPr>
                    <a:solidFill>
                      <a:srgbClr val="161416"/>
                    </a:solidFill>
                  </a:tcPr>
                </a:tc>
                <a:tc>
                  <a:txBody>
                    <a:bodyPr wrap="square"/>
                    <a:lstStyle/>
                    <a:p>
                      <a:pPr algn="l"/>
                      <a:r>
                        <a:rPr sz="1200" b="0" i="0">
                          <a:solidFill>
                            <a:srgbClr val="F7F4EF"/>
                          </a:solidFill>
                          <a:latin typeface="Calibri"/>
                        </a:rPr>
                        <a:t>0.66</a:t>
                      </a:r>
                    </a:p>
                  </a:txBody>
                  <a:tcPr>
                    <a:solidFill>
                      <a:srgbClr val="161416"/>
                    </a:solidFill>
                  </a:tcPr>
                </a:tc>
              </a:tr>
            </a:tbl>
          </a:graphicData>
        </a:graphic>
      </p:graphicFrame>
      <p:graphicFrame>
        <p:nvGraphicFramePr>
          <p:cNvPr id="10" name="Table 9"/>
          <p:cNvGraphicFramePr>
            <a:graphicFrameLocks noGrp="1"/>
          </p:cNvGraphicFramePr>
          <p:nvPr/>
        </p:nvGraphicFramePr>
        <p:xfrm>
          <a:off x="6217920" y="2423160"/>
          <a:ext cx="5532120" cy="2148840"/>
        </p:xfrm>
        <a:graphic>
          <a:graphicData uri="http://schemas.openxmlformats.org/drawingml/2006/table">
            <a:tbl>
              <a:tblPr firstRow="1" bandRow="1">
                <a:tableStyleId>{5C22544A-7EE6-4342-B048-85BDC9FD1C3A}</a:tableStyleId>
              </a:tblPr>
              <a:tblGrid>
                <a:gridCol w="2331720"/>
                <a:gridCol w="1600200"/>
                <a:gridCol w="1600200"/>
              </a:tblGrid>
              <a:tr h="537210">
                <a:tc>
                  <a:txBody>
                    <a:bodyPr wrap="square"/>
                    <a:lstStyle/>
                    <a:p>
                      <a:pPr algn="l"/>
                      <a:r>
                        <a:rPr sz="1100" b="1" i="0">
                          <a:solidFill>
                            <a:srgbClr val="B8923A"/>
                          </a:solidFill>
                          <a:latin typeface="Calibri"/>
                        </a:rPr>
                        <a:t>Request handling</a:t>
                      </a:r>
                    </a:p>
                  </a:txBody>
                  <a:tcPr>
                    <a:solidFill>
                      <a:srgbClr val="1E1810"/>
                    </a:solidFill>
                  </a:tcPr>
                </a:tc>
                <a:tc>
                  <a:txBody>
                    <a:bodyPr wrap="square"/>
                    <a:lstStyle/>
                    <a:p>
                      <a:pPr algn="l"/>
                      <a:r>
                        <a:rPr sz="1100" b="1" i="0">
                          <a:solidFill>
                            <a:srgbClr val="B8923A"/>
                          </a:solidFill>
                          <a:latin typeface="Calibri"/>
                        </a:rPr>
                        <a:t>HTTP/1.1</a:t>
                      </a:r>
                    </a:p>
                  </a:txBody>
                  <a:tcPr>
                    <a:solidFill>
                      <a:srgbClr val="1E1810"/>
                    </a:solidFill>
                  </a:tcPr>
                </a:tc>
                <a:tc>
                  <a:txBody>
                    <a:bodyPr wrap="square"/>
                    <a:lstStyle/>
                    <a:p>
                      <a:pPr algn="l"/>
                      <a:r>
                        <a:rPr sz="1100" b="1" i="0">
                          <a:solidFill>
                            <a:srgbClr val="B8923A"/>
                          </a:solidFill>
                          <a:latin typeface="Calibri"/>
                        </a:rPr>
                        <a:t>HTTP/2</a:t>
                      </a:r>
                    </a:p>
                  </a:txBody>
                  <a:tcPr>
                    <a:solidFill>
                      <a:srgbClr val="1E1810"/>
                    </a:solidFill>
                  </a:tcPr>
                </a:tc>
              </a:tr>
              <a:tr h="537210">
                <a:tc>
                  <a:txBody>
                    <a:bodyPr wrap="square"/>
                    <a:lstStyle/>
                    <a:p>
                      <a:pPr algn="l"/>
                      <a:r>
                        <a:rPr sz="1200" b="0" i="0">
                          <a:solidFill>
                            <a:srgbClr val="F7F4EF"/>
                          </a:solidFill>
                          <a:latin typeface="Calibri"/>
                        </a:rPr>
                        <a:t>HEAD</a:t>
                      </a:r>
                    </a:p>
                  </a:txBody>
                  <a:tcPr>
                    <a:solidFill>
                      <a:srgbClr val="161416"/>
                    </a:solidFill>
                  </a:tcPr>
                </a:tc>
                <a:tc>
                  <a:txBody>
                    <a:bodyPr wrap="square"/>
                    <a:lstStyle/>
                    <a:p>
                      <a:pPr algn="l"/>
                      <a:r>
                        <a:rPr sz="1200" b="0" i="0">
                          <a:solidFill>
                            <a:srgbClr val="F7F4EF"/>
                          </a:solidFill>
                          <a:latin typeface="Calibri"/>
                        </a:rPr>
                        <a:t>44 µs</a:t>
                      </a:r>
                    </a:p>
                  </a:txBody>
                  <a:tcPr>
                    <a:solidFill>
                      <a:srgbClr val="161416"/>
                    </a:solidFill>
                  </a:tcPr>
                </a:tc>
                <a:tc>
                  <a:txBody>
                    <a:bodyPr wrap="square"/>
                    <a:lstStyle/>
                    <a:p>
                      <a:pPr algn="l"/>
                      <a:r>
                        <a:rPr sz="1200" b="0" i="0">
                          <a:solidFill>
                            <a:srgbClr val="F7F4EF"/>
                          </a:solidFill>
                          <a:latin typeface="Calibri"/>
                        </a:rPr>
                        <a:t>76 µs</a:t>
                      </a:r>
                    </a:p>
                  </a:txBody>
                  <a:tcPr>
                    <a:solidFill>
                      <a:srgbClr val="161416"/>
                    </a:solidFill>
                  </a:tcPr>
                </a:tc>
              </a:tr>
              <a:tr h="537210">
                <a:tc>
                  <a:txBody>
                    <a:bodyPr wrap="square"/>
                    <a:lstStyle/>
                    <a:p>
                      <a:pPr algn="l"/>
                      <a:r>
                        <a:rPr sz="1200" b="0" i="0">
                          <a:solidFill>
                            <a:srgbClr val="F7F4EF"/>
                          </a:solidFill>
                          <a:latin typeface="Calibri"/>
                        </a:rPr>
                        <a:t>GET 64 B</a:t>
                      </a:r>
                    </a:p>
                  </a:txBody>
                  <a:tcPr>
                    <a:solidFill>
                      <a:srgbClr val="161416"/>
                    </a:solidFill>
                  </a:tcPr>
                </a:tc>
                <a:tc>
                  <a:txBody>
                    <a:bodyPr wrap="square"/>
                    <a:lstStyle/>
                    <a:p>
                      <a:pPr algn="l"/>
                      <a:r>
                        <a:rPr sz="1200" b="0" i="0">
                          <a:solidFill>
                            <a:srgbClr val="F7F4EF"/>
                          </a:solidFill>
                          <a:latin typeface="Calibri"/>
                        </a:rPr>
                        <a:t>62 µs</a:t>
                      </a:r>
                    </a:p>
                  </a:txBody>
                  <a:tcPr>
                    <a:solidFill>
                      <a:srgbClr val="161416"/>
                    </a:solidFill>
                  </a:tcPr>
                </a:tc>
                <a:tc>
                  <a:txBody>
                    <a:bodyPr wrap="square"/>
                    <a:lstStyle/>
                    <a:p>
                      <a:pPr algn="l"/>
                      <a:r>
                        <a:rPr sz="1200" b="0" i="0">
                          <a:solidFill>
                            <a:srgbClr val="F7F4EF"/>
                          </a:solidFill>
                          <a:latin typeface="Calibri"/>
                        </a:rPr>
                        <a:t>100 µs</a:t>
                      </a:r>
                    </a:p>
                  </a:txBody>
                  <a:tcPr>
                    <a:solidFill>
                      <a:srgbClr val="161416"/>
                    </a:solidFill>
                  </a:tcPr>
                </a:tc>
              </a:tr>
              <a:tr h="537210">
                <a:tc>
                  <a:txBody>
                    <a:bodyPr wrap="square"/>
                    <a:lstStyle/>
                    <a:p>
                      <a:pPr algn="l"/>
                      <a:r>
                        <a:rPr sz="1200" b="0" i="0">
                          <a:solidFill>
                            <a:srgbClr val="F7F4EF"/>
                          </a:solidFill>
                          <a:latin typeface="Calibri"/>
                        </a:rPr>
                        <a:t>GET 8 MiB</a:t>
                      </a:r>
                    </a:p>
                  </a:txBody>
                  <a:tcPr>
                    <a:solidFill>
                      <a:srgbClr val="161416"/>
                    </a:solidFill>
                  </a:tcPr>
                </a:tc>
                <a:tc>
                  <a:txBody>
                    <a:bodyPr wrap="square"/>
                    <a:lstStyle/>
                    <a:p>
                      <a:pPr algn="l"/>
                      <a:r>
                        <a:rPr sz="1200" b="0" i="0">
                          <a:solidFill>
                            <a:srgbClr val="F7F4EF"/>
                          </a:solidFill>
                          <a:latin typeface="Calibri"/>
                        </a:rPr>
                        <a:t>1.7 ms</a:t>
                      </a:r>
                    </a:p>
                  </a:txBody>
                  <a:tcPr>
                    <a:solidFill>
                      <a:srgbClr val="161416"/>
                    </a:solidFill>
                  </a:tcPr>
                </a:tc>
                <a:tc>
                  <a:txBody>
                    <a:bodyPr wrap="square"/>
                    <a:lstStyle/>
                    <a:p>
                      <a:pPr algn="l"/>
                      <a:r>
                        <a:rPr sz="1200" b="0" i="0">
                          <a:solidFill>
                            <a:srgbClr val="F7F4EF"/>
                          </a:solidFill>
                          <a:latin typeface="Calibri"/>
                        </a:rPr>
                        <a:t>2.3 ms</a:t>
                      </a:r>
                    </a:p>
                  </a:txBody>
                  <a:tcPr>
                    <a:solidFill>
                      <a:srgbClr val="161416"/>
                    </a:solidFill>
                  </a:tcPr>
                </a:tc>
              </a:tr>
            </a:tbl>
          </a:graphicData>
        </a:graphic>
      </p:graphicFrame>
      <p:sp>
        <p:nvSpPr>
          <p:cNvPr id="11" name="TextBox 10"/>
          <p:cNvSpPr txBox="1"/>
          <p:nvPr/>
        </p:nvSpPr>
        <p:spPr>
          <a:xfrm>
            <a:off x="502920" y="5532120"/>
            <a:ext cx="11155680" cy="777240"/>
          </a:xfrm>
          <a:prstGeom prst="rect">
            <a:avLst/>
          </a:prstGeom>
          <a:noFill/>
        </p:spPr>
        <p:txBody>
          <a:bodyPr wrap="square">
            <a:spAutoFit/>
          </a:bodyPr>
          <a:lstStyle/>
          <a:p>
            <a:pPr algn="l"/>
            <a:r>
              <a:rPr sz="1200" b="0" i="0">
                <a:solidFill>
                  <a:srgbClr val="C9BFB6"/>
                </a:solidFill>
                <a:latin typeface="Calibri"/>
              </a:rPr>
              <a:t>Native = master’s BuffgetLine / split-on-colon scanner. It still wins the parse microbench; we did not switch for speed. HTTP/2 on one stream is about 1.4× after nghttp2 NO_COPY + batched writev (no memcpy of the body into frames). Remaining gap: HPACK, 16 KiB DATA frames, serial Bridge. True sendfile like cleartext HTTP/1.1 is not possible - each DATA frame needs a 9-byte header.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0707"/>
        </a:solidFill>
        <a:effectLst/>
      </p:bgPr>
    </p:bg>
    <p:spTree>
      <p:nvGrpSpPr>
        <p:cNvPr id="1" name=""/>
        <p:cNvGrpSpPr/>
        <p:nvPr/>
      </p:nvGrpSpPr>
      <p:grpSpPr/>
      <p:pic>
        <p:nvPicPr>
          <p:cNvPr id="2" name="Picture 1" descr="xrootd-logo.png"/>
          <p:cNvPicPr>
            <a:picLocks noChangeAspect="1"/>
          </p:cNvPicPr>
          <p:nvPr/>
        </p:nvPicPr>
        <p:blipFill>
          <a:blip r:embed="rId2"/>
          <a:stretch>
            <a:fillRect/>
          </a:stretch>
        </p:blipFill>
        <p:spPr>
          <a:xfrm>
            <a:off x="320040" y="164592"/>
            <a:ext cx="502920" cy="502920"/>
          </a:xfrm>
          <a:prstGeom prst="rect">
            <a:avLst/>
          </a:prstGeom>
        </p:spPr>
      </p:pic>
      <p:pic>
        <p:nvPicPr>
          <p:cNvPr id="3" name="Picture 2" descr="cern-logo.svg.png"/>
          <p:cNvPicPr>
            <a:picLocks noChangeAspect="1"/>
          </p:cNvPicPr>
          <p:nvPr/>
        </p:nvPicPr>
        <p:blipFill>
          <a:blip r:embed="rId3"/>
          <a:stretch>
            <a:fillRect/>
          </a:stretch>
        </p:blipFill>
        <p:spPr>
          <a:xfrm>
            <a:off x="11384280" y="164592"/>
            <a:ext cx="475488" cy="475488"/>
          </a:xfrm>
          <a:prstGeom prst="rect">
            <a:avLst/>
          </a:prstGeom>
        </p:spPr>
      </p:pic>
      <p:sp>
        <p:nvSpPr>
          <p:cNvPr id="4" name="Rectangle 3"/>
          <p:cNvSpPr/>
          <p:nvPr/>
        </p:nvSpPr>
        <p:spPr>
          <a:xfrm>
            <a:off x="0" y="749808"/>
            <a:ext cx="12191695" cy="19050"/>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B8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565392"/>
            <a:ext cx="1371600" cy="256032"/>
          </a:xfrm>
          <a:prstGeom prst="rect">
            <a:avLst/>
          </a:prstGeom>
          <a:noFill/>
        </p:spPr>
        <p:txBody>
          <a:bodyPr wrap="square">
            <a:spAutoFit/>
          </a:bodyPr>
          <a:lstStyle/>
          <a:p>
            <a:pPr algn="r"/>
            <a:r>
              <a:rPr sz="1100" b="0" i="0">
                <a:solidFill>
                  <a:srgbClr val="B8923A"/>
                </a:solidFill>
                <a:latin typeface="Calibri"/>
              </a:rPr>
              <a:t>19 / 19</a:t>
            </a:r>
          </a:p>
        </p:txBody>
      </p:sp>
      <p:sp>
        <p:nvSpPr>
          <p:cNvPr id="7" name="TextBox 6"/>
          <p:cNvSpPr txBox="1"/>
          <p:nvPr/>
        </p:nvSpPr>
        <p:spPr>
          <a:xfrm>
            <a:off x="502920" y="868680"/>
            <a:ext cx="10972800" cy="292608"/>
          </a:xfrm>
          <a:prstGeom prst="rect">
            <a:avLst/>
          </a:prstGeom>
          <a:noFill/>
        </p:spPr>
        <p:txBody>
          <a:bodyPr wrap="square">
            <a:spAutoFit/>
          </a:bodyPr>
          <a:lstStyle/>
          <a:p>
            <a:pPr algn="l"/>
            <a:r>
              <a:rPr sz="1200" b="1" i="0">
                <a:solidFill>
                  <a:srgbClr val="E8A0BF"/>
                </a:solidFill>
                <a:latin typeface="Calibri"/>
              </a:rPr>
              <a:t>OUTLOOK</a:t>
            </a:r>
          </a:p>
        </p:txBody>
      </p:sp>
      <p:sp>
        <p:nvSpPr>
          <p:cNvPr id="8" name="TextBox 7"/>
          <p:cNvSpPr txBox="1"/>
          <p:nvPr/>
        </p:nvSpPr>
        <p:spPr>
          <a:xfrm>
            <a:off x="502920" y="1115568"/>
            <a:ext cx="11155680" cy="640080"/>
          </a:xfrm>
          <a:prstGeom prst="rect">
            <a:avLst/>
          </a:prstGeom>
          <a:noFill/>
        </p:spPr>
        <p:txBody>
          <a:bodyPr wrap="square">
            <a:spAutoFit/>
          </a:bodyPr>
          <a:lstStyle/>
          <a:p>
            <a:pPr algn="l"/>
            <a:r>
              <a:rPr sz="2800" b="1" i="0">
                <a:solidFill>
                  <a:srgbClr val="F7F4EF"/>
                </a:solidFill>
                <a:latin typeface="Calibri"/>
              </a:rPr>
              <a:t>Status</a:t>
            </a:r>
          </a:p>
        </p:txBody>
      </p:sp>
      <p:sp>
        <p:nvSpPr>
          <p:cNvPr id="9" name="Rounded Rectangle 8"/>
          <p:cNvSpPr/>
          <p:nvPr/>
        </p:nvSpPr>
        <p:spPr>
          <a:xfrm>
            <a:off x="502920" y="1874519"/>
            <a:ext cx="3566160" cy="33832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1965960"/>
            <a:ext cx="3346704" cy="201168"/>
          </a:xfrm>
          <a:prstGeom prst="rect">
            <a:avLst/>
          </a:prstGeom>
          <a:noFill/>
        </p:spPr>
        <p:txBody>
          <a:bodyPr wrap="square">
            <a:spAutoFit/>
          </a:bodyPr>
          <a:lstStyle/>
          <a:p>
            <a:pPr algn="l"/>
            <a:r>
              <a:rPr sz="1000" b="1" i="0">
                <a:solidFill>
                  <a:srgbClr val="B8923A"/>
                </a:solidFill>
                <a:latin typeface="Calibri"/>
              </a:rPr>
              <a:t>DONE</a:t>
            </a:r>
          </a:p>
        </p:txBody>
      </p:sp>
      <p:sp>
        <p:nvSpPr>
          <p:cNvPr id="11" name="TextBox 10"/>
          <p:cNvSpPr txBox="1"/>
          <p:nvPr/>
        </p:nvSpPr>
        <p:spPr>
          <a:xfrm>
            <a:off x="612648" y="2167128"/>
            <a:ext cx="3346704" cy="292608"/>
          </a:xfrm>
          <a:prstGeom prst="rect">
            <a:avLst/>
          </a:prstGeom>
          <a:noFill/>
        </p:spPr>
        <p:txBody>
          <a:bodyPr wrap="square">
            <a:spAutoFit/>
          </a:bodyPr>
          <a:lstStyle/>
          <a:p>
            <a:pPr algn="l"/>
            <a:r>
              <a:rPr sz="1500" b="1" i="0">
                <a:solidFill>
                  <a:srgbClr val="B8923A"/>
                </a:solidFill>
                <a:latin typeface="Calibri"/>
              </a:rPr>
              <a:t>Done</a:t>
            </a:r>
          </a:p>
        </p:txBody>
      </p:sp>
      <p:sp>
        <p:nvSpPr>
          <p:cNvPr id="12" name="TextBox 11"/>
          <p:cNvSpPr txBox="1"/>
          <p:nvPr/>
        </p:nvSpPr>
        <p:spPr>
          <a:xfrm>
            <a:off x="612648" y="2478024"/>
            <a:ext cx="3346704" cy="2688336"/>
          </a:xfrm>
          <a:prstGeom prst="rect">
            <a:avLst/>
          </a:prstGeom>
          <a:noFill/>
        </p:spPr>
        <p:txBody>
          <a:bodyPr wrap="square">
            <a:spAutoFit/>
          </a:bodyPr>
          <a:lstStyle/>
          <a:p>
            <a:pPr>
              <a:spcAft>
                <a:spcPts val="400"/>
              </a:spcAft>
            </a:pPr>
            <a:r>
              <a:rPr sz="1300" b="0" i="0">
                <a:solidFill>
                  <a:srgbClr val="F7F4EF"/>
                </a:solidFill>
                <a:latin typeface="Calibri"/>
              </a:rPr>
              <a:t>• llhttp + HTTP/2 on the server</a:t>
            </a:r>
          </a:p>
          <a:p>
            <a:pPr>
              <a:spcAft>
                <a:spcPts val="400"/>
              </a:spcAft>
            </a:pPr>
            <a:r>
              <a:rPr sz="1300" b="0" i="0">
                <a:solidFill>
                  <a:srgbClr val="F7F4EF"/>
                </a:solidFill>
                <a:latin typeface="Calibri"/>
              </a:rPr>
              <a:t>• Kerberos for HTTPS</a:t>
            </a:r>
          </a:p>
          <a:p>
            <a:pPr>
              <a:spcAft>
                <a:spcPts val="400"/>
              </a:spcAft>
            </a:pPr>
            <a:r>
              <a:rPr sz="1300" b="0" i="0">
                <a:solidFill>
                  <a:srgbClr val="F7F4EF"/>
                </a:solidFill>
                <a:latin typeface="Calibri"/>
              </a:rPr>
              <a:t>• PATCH, PROPPATCH, LINK</a:t>
            </a:r>
          </a:p>
          <a:p>
            <a:pPr>
              <a:spcAft>
                <a:spcPts val="400"/>
              </a:spcAft>
            </a:pPr>
            <a:r>
              <a:rPr sz="1300" b="0" i="0">
                <a:solidFill>
                  <a:srgbClr val="F7F4EF"/>
                </a:solidFill>
                <a:latin typeface="Calibri"/>
              </a:rPr>
              <a:t>• FUSE client (HTTP/2)</a:t>
            </a:r>
          </a:p>
          <a:p>
            <a:pPr>
              <a:spcAft>
                <a:spcPts val="400"/>
              </a:spcAft>
            </a:pPr>
            <a:r>
              <a:rPr sz="1300" b="0" i="0">
                <a:solidFill>
                  <a:srgbClr val="F7F4EF"/>
                </a:solidFill>
                <a:latin typeface="Calibri"/>
              </a:rPr>
              <a:t>• Kernel module + kTLS (CPU / page cache)</a:t>
            </a:r>
          </a:p>
        </p:txBody>
      </p:sp>
      <p:sp>
        <p:nvSpPr>
          <p:cNvPr id="13" name="Rounded Rectangle 12"/>
          <p:cNvSpPr/>
          <p:nvPr/>
        </p:nvSpPr>
        <p:spPr>
          <a:xfrm>
            <a:off x="4297680" y="1874519"/>
            <a:ext cx="3566160" cy="33832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8" y="1965960"/>
            <a:ext cx="3346704" cy="201168"/>
          </a:xfrm>
          <a:prstGeom prst="rect">
            <a:avLst/>
          </a:prstGeom>
          <a:noFill/>
        </p:spPr>
        <p:txBody>
          <a:bodyPr wrap="square">
            <a:spAutoFit/>
          </a:bodyPr>
          <a:lstStyle/>
          <a:p>
            <a:pPr algn="l"/>
            <a:r>
              <a:rPr sz="1000" b="1" i="0">
                <a:solidFill>
                  <a:srgbClr val="E8A0BF"/>
                </a:solidFill>
                <a:latin typeface="Calibri"/>
              </a:rPr>
              <a:t>NOT DONE</a:t>
            </a:r>
          </a:p>
        </p:txBody>
      </p:sp>
      <p:sp>
        <p:nvSpPr>
          <p:cNvPr id="15" name="TextBox 14"/>
          <p:cNvSpPr txBox="1"/>
          <p:nvPr/>
        </p:nvSpPr>
        <p:spPr>
          <a:xfrm>
            <a:off x="4407408" y="2167128"/>
            <a:ext cx="3346704" cy="292608"/>
          </a:xfrm>
          <a:prstGeom prst="rect">
            <a:avLst/>
          </a:prstGeom>
          <a:noFill/>
        </p:spPr>
        <p:txBody>
          <a:bodyPr wrap="square">
            <a:spAutoFit/>
          </a:bodyPr>
          <a:lstStyle/>
          <a:p>
            <a:pPr algn="l"/>
            <a:r>
              <a:rPr sz="1500" b="1" i="0">
                <a:solidFill>
                  <a:srgbClr val="B8923A"/>
                </a:solidFill>
                <a:latin typeface="Calibri"/>
              </a:rPr>
              <a:t>Not done</a:t>
            </a:r>
          </a:p>
        </p:txBody>
      </p:sp>
      <p:sp>
        <p:nvSpPr>
          <p:cNvPr id="16" name="TextBox 15"/>
          <p:cNvSpPr txBox="1"/>
          <p:nvPr/>
        </p:nvSpPr>
        <p:spPr>
          <a:xfrm>
            <a:off x="4407408" y="2478024"/>
            <a:ext cx="3346704" cy="2688336"/>
          </a:xfrm>
          <a:prstGeom prst="rect">
            <a:avLst/>
          </a:prstGeom>
          <a:noFill/>
        </p:spPr>
        <p:txBody>
          <a:bodyPr wrap="square">
            <a:spAutoFit/>
          </a:bodyPr>
          <a:lstStyle/>
          <a:p>
            <a:pPr>
              <a:spcAft>
                <a:spcPts val="400"/>
              </a:spcAft>
            </a:pPr>
            <a:r>
              <a:rPr sz="1300" b="0" i="0">
                <a:solidFill>
                  <a:srgbClr val="F7F4EF"/>
                </a:solidFill>
                <a:latin typeface="Calibri"/>
              </a:rPr>
              <a:t>• RDMA transport</a:t>
            </a:r>
          </a:p>
          <a:p>
            <a:pPr>
              <a:spcAft>
                <a:spcPts val="400"/>
              </a:spcAft>
            </a:pPr>
            <a:r>
              <a:rPr sz="1300" b="0" i="0">
                <a:solidFill>
                  <a:srgbClr val="F7F4EF"/>
                </a:solidFill>
                <a:latin typeface="Calibri"/>
              </a:rPr>
              <a:t>• GPU-direct (ioctl stub only)</a:t>
            </a:r>
          </a:p>
          <a:p>
            <a:pPr>
              <a:spcAft>
                <a:spcPts val="400"/>
              </a:spcAft>
            </a:pPr>
            <a:r>
              <a:rPr sz="1300" b="0" i="0">
                <a:solidFill>
                  <a:srgbClr val="F7F4EF"/>
                </a:solidFill>
                <a:latin typeface="Calibri"/>
              </a:rPr>
              <a:t>• HTTP/2 in the kernel</a:t>
            </a:r>
          </a:p>
          <a:p>
            <a:pPr>
              <a:spcAft>
                <a:spcPts val="400"/>
              </a:spcAft>
            </a:pPr>
            <a:r>
              <a:rPr sz="1300" b="0" i="0">
                <a:solidFill>
                  <a:srgbClr val="F7F4EF"/>
                </a:solidFill>
                <a:latin typeface="Calibri"/>
              </a:rPr>
              <a:t>• Automatic TLS reconnect</a:t>
            </a:r>
          </a:p>
          <a:p>
            <a:pPr>
              <a:spcAft>
                <a:spcPts val="400"/>
              </a:spcAft>
            </a:pPr>
            <a:r>
              <a:rPr sz="1300" b="0" i="0">
                <a:solidFill>
                  <a:srgbClr val="F7F4EF"/>
                </a:solidFill>
                <a:latin typeface="Calibri"/>
              </a:rPr>
              <a:t>• Parallel Bridge on one HTTP/2 connection</a:t>
            </a:r>
          </a:p>
          <a:p>
            <a:pPr>
              <a:spcAft>
                <a:spcPts val="400"/>
              </a:spcAft>
            </a:pPr>
            <a:r>
              <a:rPr sz="1300" b="0" i="0">
                <a:solidFill>
                  <a:srgbClr val="F7F4EF"/>
                </a:solidFill>
                <a:latin typeface="Calibri"/>
              </a:rPr>
              <a:t>• Symlinks, chown, utimens</a:t>
            </a:r>
          </a:p>
        </p:txBody>
      </p:sp>
      <p:sp>
        <p:nvSpPr>
          <p:cNvPr id="17" name="Rounded Rectangle 16"/>
          <p:cNvSpPr/>
          <p:nvPr/>
        </p:nvSpPr>
        <p:spPr>
          <a:xfrm>
            <a:off x="8092440" y="1874519"/>
            <a:ext cx="3566160" cy="3383280"/>
          </a:xfrm>
          <a:prstGeom prst="roundRect">
            <a:avLst/>
          </a:prstGeom>
          <a:solidFill>
            <a:srgbClr val="161416"/>
          </a:solidFill>
          <a:ln w="12700">
            <a:solidFill>
              <a:srgbClr val="B89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2167" y="1965960"/>
            <a:ext cx="3346704" cy="201168"/>
          </a:xfrm>
          <a:prstGeom prst="rect">
            <a:avLst/>
          </a:prstGeom>
          <a:noFill/>
        </p:spPr>
        <p:txBody>
          <a:bodyPr wrap="square">
            <a:spAutoFit/>
          </a:bodyPr>
          <a:lstStyle/>
          <a:p>
            <a:pPr algn="l"/>
            <a:r>
              <a:rPr sz="1000" b="1" i="0">
                <a:solidFill>
                  <a:srgbClr val="E8A0BF"/>
                </a:solidFill>
                <a:latin typeface="Calibri"/>
              </a:rPr>
              <a:t>NEXT</a:t>
            </a:r>
          </a:p>
        </p:txBody>
      </p:sp>
      <p:sp>
        <p:nvSpPr>
          <p:cNvPr id="19" name="TextBox 18"/>
          <p:cNvSpPr txBox="1"/>
          <p:nvPr/>
        </p:nvSpPr>
        <p:spPr>
          <a:xfrm>
            <a:off x="8202167" y="2167128"/>
            <a:ext cx="3346704" cy="292608"/>
          </a:xfrm>
          <a:prstGeom prst="rect">
            <a:avLst/>
          </a:prstGeom>
          <a:noFill/>
        </p:spPr>
        <p:txBody>
          <a:bodyPr wrap="square">
            <a:spAutoFit/>
          </a:bodyPr>
          <a:lstStyle/>
          <a:p>
            <a:pPr algn="l"/>
            <a:r>
              <a:rPr sz="1500" b="1" i="0">
                <a:solidFill>
                  <a:srgbClr val="B8923A"/>
                </a:solidFill>
                <a:latin typeface="Calibri"/>
              </a:rPr>
              <a:t>Next steps</a:t>
            </a:r>
          </a:p>
        </p:txBody>
      </p:sp>
      <p:sp>
        <p:nvSpPr>
          <p:cNvPr id="20" name="TextBox 19"/>
          <p:cNvSpPr txBox="1"/>
          <p:nvPr/>
        </p:nvSpPr>
        <p:spPr>
          <a:xfrm>
            <a:off x="8202167" y="2478024"/>
            <a:ext cx="3346704" cy="2688336"/>
          </a:xfrm>
          <a:prstGeom prst="rect">
            <a:avLst/>
          </a:prstGeom>
          <a:noFill/>
        </p:spPr>
        <p:txBody>
          <a:bodyPr wrap="square">
            <a:spAutoFit/>
          </a:bodyPr>
          <a:lstStyle/>
          <a:p>
            <a:pPr>
              <a:spcAft>
                <a:spcPts val="400"/>
              </a:spcAft>
            </a:pPr>
            <a:r>
              <a:rPr sz="1300" b="0" i="0">
                <a:solidFill>
                  <a:srgbClr val="F7F4EF"/>
                </a:solidFill>
                <a:latin typeface="Calibri"/>
              </a:rPr>
              <a:t>• Land parser + HTTP/2 + Kerberos on master</a:t>
            </a:r>
          </a:p>
          <a:p>
            <a:pPr>
              <a:spcAft>
                <a:spcPts val="400"/>
              </a:spcAft>
            </a:pPr>
            <a:r>
              <a:rPr sz="1300" b="0" i="0">
                <a:solidFill>
                  <a:srgbClr val="F7F4EF"/>
                </a:solidFill>
                <a:latin typeface="Calibri"/>
              </a:rPr>
              <a:t>• Keep XIOFS as the follow-up</a:t>
            </a:r>
          </a:p>
          <a:p>
            <a:pPr>
              <a:spcAft>
                <a:spcPts val="400"/>
              </a:spcAft>
            </a:pPr>
            <a:r>
              <a:rPr sz="1300" b="0" i="0">
                <a:solidFill>
                  <a:srgbClr val="F7F4EF"/>
                </a:solidFill>
                <a:latin typeface="Calibri"/>
              </a:rPr>
              <a:t>• RDMA when XrdHTTP can serve it</a:t>
            </a:r>
          </a:p>
          <a:p>
            <a:pPr>
              <a:spcAft>
                <a:spcPts val="400"/>
              </a:spcAft>
            </a:pPr>
            <a:r>
              <a:rPr sz="1300" b="0" i="0">
                <a:solidFill>
                  <a:srgbClr val="F7F4EF"/>
                </a:solidFill>
                <a:latin typeface="Calibri"/>
              </a:rPr>
              <a:t>• Then GPU I/O on DMA-BUF</a:t>
            </a:r>
          </a:p>
        </p:txBody>
      </p:sp>
      <p:sp>
        <p:nvSpPr>
          <p:cNvPr id="21" name="TextBox 20"/>
          <p:cNvSpPr txBox="1"/>
          <p:nvPr/>
        </p:nvSpPr>
        <p:spPr>
          <a:xfrm>
            <a:off x="502920" y="5440680"/>
            <a:ext cx="11155680" cy="640080"/>
          </a:xfrm>
          <a:prstGeom prst="rect">
            <a:avLst/>
          </a:prstGeom>
          <a:noFill/>
        </p:spPr>
        <p:txBody>
          <a:bodyPr wrap="square">
            <a:spAutoFit/>
          </a:bodyPr>
          <a:lstStyle/>
          <a:p>
            <a:pPr algn="l"/>
            <a:r>
              <a:rPr sz="1500" b="0" i="0">
                <a:solidFill>
                  <a:srgbClr val="C9BFB6"/>
                </a:solidFill>
                <a:latin typeface="Calibri"/>
              </a:rPr>
              <a:t>Today: CPU applications can mount XrdHTTP and use the Linux page cache. RDMA and GPU are designed in the client API, not implemented on the wire.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